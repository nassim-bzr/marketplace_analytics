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933720a5fe486d" /><Relationship Type="http://schemas.openxmlformats.org/officeDocument/2006/relationships/extended-properties" Target="/docProps/app.xml" Id="Re535deb6bac0438b" /><Relationship Type="http://schemas.openxmlformats.org/officeDocument/2006/relationships/officeDocument" Target="/ppt/presentation.xml" Id="Rfd6368ed1d954906" /></Relationships>
</file>

<file path=ppt/presentation.xml><?xml version="1.0" encoding="utf-8"?>
<p:presentation xmlns:p="http://schemas.openxmlformats.org/presentationml/2006/main">
  <p:sldMasterIdLst>
    <p:sldMasterId xmlns:r="http://schemas.openxmlformats.org/officeDocument/2006/relationships" id="2147483648" r:id="R259526cfd162481f"/>
  </p:sldMasterIdLst>
  <p:notesMasterIdLst>
    <p:notesMasterId xmlns:r="http://schemas.openxmlformats.org/officeDocument/2006/relationships" r:id="R38f23b3f598646e2"/>
  </p:notesMasterIdLst>
  <p:sldIdLst>
    <p:sldId xmlns:r="http://schemas.openxmlformats.org/officeDocument/2006/relationships" id="256" r:id="R04b583ab922a412a"/>
    <p:sldId xmlns:r="http://schemas.openxmlformats.org/officeDocument/2006/relationships" id="257" r:id="R0b3f64ab58374ac5"/>
    <p:sldId xmlns:r="http://schemas.openxmlformats.org/officeDocument/2006/relationships" id="258" r:id="Re8235c5cf8904f6c"/>
    <p:sldId xmlns:r="http://schemas.openxmlformats.org/officeDocument/2006/relationships" id="259" r:id="Rc13cba6359db40c0"/>
    <p:sldId xmlns:r="http://schemas.openxmlformats.org/officeDocument/2006/relationships" id="260" r:id="R4439e4ea38704c65"/>
    <p:sldId xmlns:r="http://schemas.openxmlformats.org/officeDocument/2006/relationships" id="261" r:id="R690f844eb0e34fdb"/>
    <p:sldId xmlns:r="http://schemas.openxmlformats.org/officeDocument/2006/relationships" id="262" r:id="R6d799050f0f54dbf"/>
    <p:sldId xmlns:r="http://schemas.openxmlformats.org/officeDocument/2006/relationships" id="263" r:id="R5c775a1f31fe401f"/>
    <p:sldId xmlns:r="http://schemas.openxmlformats.org/officeDocument/2006/relationships" id="264" r:id="R3f3d8fce042b46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04088bc1e84a2d" /><Relationship Type="http://schemas.openxmlformats.org/officeDocument/2006/relationships/slideMaster" Target="/ppt/slideMasters/slideMaster1.xml" Id="R259526cfd162481f" /><Relationship Type="http://schemas.openxmlformats.org/officeDocument/2006/relationships/notesMaster" Target="/ppt/notesMasters/notesMaster1.xml" Id="R38f23b3f598646e2" /><Relationship Type="http://schemas.openxmlformats.org/officeDocument/2006/relationships/presProps" Target="/ppt/presProps.xml" Id="Ra9f9d8d0dae046ee" /><Relationship Type="http://schemas.openxmlformats.org/officeDocument/2006/relationships/tableStyles" Target="/ppt/tableStyles.xml" Id="R30394873a7e942d0" /><Relationship Type="http://schemas.openxmlformats.org/officeDocument/2006/relationships/slide" Target="/ppt/slides/slide1.xml" Id="R04b583ab922a412a" /><Relationship Type="http://schemas.openxmlformats.org/officeDocument/2006/relationships/slide" Target="/ppt/slides/slide2.xml" Id="R0b3f64ab58374ac5" /><Relationship Type="http://schemas.openxmlformats.org/officeDocument/2006/relationships/slide" Target="/ppt/slides/slide3.xml" Id="Re8235c5cf8904f6c" /><Relationship Type="http://schemas.openxmlformats.org/officeDocument/2006/relationships/slide" Target="/ppt/slides/slide4.xml" Id="Rc13cba6359db40c0" /><Relationship Type="http://schemas.openxmlformats.org/officeDocument/2006/relationships/slide" Target="/ppt/slides/slide5.xml" Id="R4439e4ea38704c65" /><Relationship Type="http://schemas.openxmlformats.org/officeDocument/2006/relationships/slide" Target="/ppt/slides/slide6.xml" Id="R690f844eb0e34fdb" /><Relationship Type="http://schemas.openxmlformats.org/officeDocument/2006/relationships/slide" Target="/ppt/slides/slide7.xml" Id="R6d799050f0f54dbf" /><Relationship Type="http://schemas.openxmlformats.org/officeDocument/2006/relationships/slide" Target="/ppt/slides/slide8.xml" Id="R5c775a1f31fe401f" /><Relationship Type="http://schemas.openxmlformats.org/officeDocument/2006/relationships/slide" Target="/ppt/slides/slide9.xml" Id="R3f3d8fce042b46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a0881b6e3147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b142ca43974960" /><Relationship Type="http://schemas.openxmlformats.org/officeDocument/2006/relationships/notesMaster" Target="/ppt/notesMasters/notesMaster1.xml" Id="R23f3178cf461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a8d586c04c4793" /><Relationship Type="http://schemas.openxmlformats.org/officeDocument/2006/relationships/notesMaster" Target="/ppt/notesMasters/notesMaster1.xml" Id="R5455849bf5eb40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3d44b6dff94db6" /><Relationship Type="http://schemas.openxmlformats.org/officeDocument/2006/relationships/notesMaster" Target="/ppt/notesMasters/notesMaster1.xml" Id="R53dd6ef84c9245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5036d60baa4e33" /><Relationship Type="http://schemas.openxmlformats.org/officeDocument/2006/relationships/notesMaster" Target="/ppt/notesMasters/notesMaster1.xml" Id="R95945922847a4c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7aae793df24578" /><Relationship Type="http://schemas.openxmlformats.org/officeDocument/2006/relationships/notesMaster" Target="/ppt/notesMasters/notesMaster1.xml" Id="Rdc1b4cb9274c4b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6d088912bc4f16" /><Relationship Type="http://schemas.openxmlformats.org/officeDocument/2006/relationships/notesMaster" Target="/ppt/notesMasters/notesMaster1.xml" Id="R9fc9e34eeddc4f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00314b98864042" /><Relationship Type="http://schemas.openxmlformats.org/officeDocument/2006/relationships/notesMaster" Target="/ppt/notesMasters/notesMaster1.xml" Id="Rbc7011781b3248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43dc2e189e480e" /><Relationship Type="http://schemas.openxmlformats.org/officeDocument/2006/relationships/notesMaster" Target="/ppt/notesMasters/notesMaster1.xml" Id="R31de62d2ee3540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c242f08e324487" /><Relationship Type="http://schemas.openxmlformats.org/officeDocument/2006/relationships/notesMaster" Target="/ppt/notesMasters/notesMaster1.xml" Id="Rcc7d9da1aeeb41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1:00</a:t>
            </a:r>
          </a:p>
          <a:p xmlns:a="http://schemas.openxmlformats.org/drawingml/2006/main">
            <a:r>
              <a:t/>
            </a:r>
          </a:p>
          <a:p xmlns:a="http://schemas.openxmlformats.org/drawingml/2006/main">
            <a:r>
              <a:t>Bonjour, on va vous présenter notre projet MarketPlace Analytics. On est partis du cas de Maelys, une marketplace fictive qui met en relation des vendeurs et des clients. Dans le scénario du sujet, l’analyste récupère les commandes à la main pour faire ses rapports Excel. L’idée de notre projet, c’est d’automatiser ce travail et d’obtenir des chiffres faciles à consulter : le chiffre d’affaires, les commissions et les meilleurs vendeurs. On va vous montrer d’où viennent les données, comment on les traite et ce qu’on obtient à la fin.</a:t>
            </a:r>
          </a:p>
          <a:p xmlns:a="http://schemas.openxmlformats.org/drawingml/2006/main">
            <a:r>
              <a:t/>
            </a:r>
          </a:p>
          <a:p xmlns:a="http://schemas.openxmlformats.org/drawingml/2006/main">
            <a:r>
              <a:t>Transition : Je commence par le rôle des outils, parce qu’on en utilise plusieurs, mais chacun a une fonction assez simple.</a:t>
            </a:r>
          </a:p>
          <a:p xmlns:a="http://schemas.openxmlformats.org/drawingml/2006/main">
            <a:r>
              <a:t/>
            </a:r>
          </a:p>
          <a:p xmlns:a="http://schemas.openxmlformats.org/drawingml/2006/main">
            <a:r>
              <a:t>Sources internes : Cahier des charges HTML, sections 1 et 7 ; README.md, sections 1 et 2</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Exemple à expliquer : on veut pouvoir consulter les ventes du jour sans refaire un export Excel. La commission de 12 % représente la part de la marketplace sur une vente.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1:35</a:t>
            </a:r>
          </a:p>
          <a:p xmlns:a="http://schemas.openxmlformats.org/drawingml/2006/main">
            <a:r>
              <a:t/>
            </a:r>
          </a:p>
          <a:p xmlns:a="http://schemas.openxmlformats.org/drawingml/2006/main">
            <a:r>
              <a:t>Concrètement, Faker sert à inventer nos données : des noms de vendeurs, des clients et des commandes. Flask les rend accessibles par une API, un peu comme si on interrogeait le backoffice d’un vrai site. Airflow s’occupe de lancer les étapes dans le bon ordre. Il appelle l’API et dépose les commandes dans MinIO. MinIO conserve ces données sous forme de fichiers JSON. Ensuite, PostgreSQL les range dans des tables et calcule les indicateurs. Metabase lit les tables pour afficher les graphiques. Docker Compose permet de démarrer tous ces services avec la même configuration. Le parcours des données reste donc assez simple : une source, une copie brute, des tables préparées et des graphiques. On appelle ça un pipeline, c’est-à-dire une suite de traitements qui s’enchaînent.</a:t>
            </a:r>
          </a:p>
          <a:p xmlns:a="http://schemas.openxmlformats.org/drawingml/2006/main">
            <a:r>
              <a:t/>
            </a:r>
          </a:p>
          <a:p xmlns:a="http://schemas.openxmlformats.org/drawingml/2006/main">
            <a:r>
              <a:t>Transition : Pour que ce pipeline ait quelque chose à traiter, on a d’abord besoin d’une source de données cohérente.</a:t>
            </a:r>
          </a:p>
          <a:p xmlns:a="http://schemas.openxmlformats.org/drawingml/2006/main">
            <a:r>
              <a:t/>
            </a:r>
          </a:p>
          <a:p xmlns:a="http://schemas.openxmlformats.org/drawingml/2006/main">
            <a:r>
              <a:t>Sources internes : docker-compose.yml ; api/app.py ; plugins/marketplace_io.py ; scripts/setup_metabase.py</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En montrant les outils : Docker lance les services sur notre PC. Airflow lance les traitements. MinIO garde les fichiers bruts. PostgreSQL prépare les tables et Metabase les affiche.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Medy — durée indicative 1:35</a:t>
            </a:r>
          </a:p>
          <a:p xmlns:a="http://schemas.openxmlformats.org/drawingml/2006/main">
            <a:r>
              <a:t/>
            </a:r>
          </a:p>
          <a:p xmlns:a="http://schemas.openxmlformats.org/drawingml/2006/main">
            <a:r>
              <a:t>On utilise Faker en français pour créer les informations fictives. Mais Faker ne fait pas tout : le code choisit aussi les produits, les quantités, les prix et les statuts des commandes. On a 200 vendeurs, 2 000 produits et 5 000 clients. Les commandes pointent vers des éléments qui existent déjà, et le produit correspond bien au vendeur. Ça évite de générer des lignes au hasard qui seraient impossibles à relier ensuite. Autre point important : on fixe une graine de génération. Pour les commandes, elle dépend de la date demandée. Si on redemande la même journée, on retrouve donc les mêmes commandes avec la même configuration. C’est utile pour tester les relances. Par exemple, pour une commande de deux articles à 25 euros, le total est de 50 euros. Avec le taux de 12 % du sujet, la commission vaut 6 euros.</a:t>
            </a:r>
          </a:p>
          <a:p xmlns:a="http://schemas.openxmlformats.org/drawingml/2006/main">
            <a:r>
              <a:t/>
            </a:r>
          </a:p>
          <a:p xmlns:a="http://schemas.openxmlformats.org/drawingml/2006/main">
            <a:r>
              <a:t>Transition : Je laisse maintenant Rayan expliquer comment on conserve ces données et comment on les organise.</a:t>
            </a:r>
          </a:p>
          <a:p xmlns:a="http://schemas.openxmlformats.org/drawingml/2006/main">
            <a:r>
              <a:t/>
            </a:r>
          </a:p>
          <a:p xmlns:a="http://schemas.openxmlformats.org/drawingml/2006/main">
            <a:r>
              <a:t>Sources internes : api/app.py ; api/requirements.txt ; plugins/marketplace_config.py ; Vérification SQL locale du 21 octobre 2026</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Exemple à expliquer : une commande choisit un produit et un client qui existent déjà. Faker aide à créer des noms et des adresses plausibles, tandis que notre code assure les liens entre les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1:30</a:t>
            </a:r>
          </a:p>
          <a:p xmlns:a="http://schemas.openxmlformats.org/drawingml/2006/main">
            <a:r>
              <a:t/>
            </a:r>
          </a:p>
          <a:p xmlns:a="http://schemas.openxmlformats.org/drawingml/2006/main">
            <a:r>
              <a:t>On a repris le principe de l’architecture médaillon : on passe progressivement des données brutes à des données utilisables pour l’analyse. Bronze, c’est la copie brute. Dans MinIO, on classe les fichiers par type de données puis par date, par exemple orders, puis dt égal à une date. On peut ainsi retrouver une journée précise. Silver correspond ici aux tables PostgreSQL où on type les données et où on les organise. Gold contient les agrégations, comme le chiffre d’affaires par jour ou par vendeur. Il faut préciser un choix de notre version : seule Bronze contient des fichiers dans MinIO. Silver et Gold sont dans PostgreSQL. Les deux buckets MinIO existent, mais ils ne sont pas alimentés. Une évolution possible serait d’y exporter les données préparées, par exemple en Parquet.</a:t>
            </a:r>
          </a:p>
          <a:p xmlns:a="http://schemas.openxmlformats.org/drawingml/2006/main">
            <a:r>
              <a:t/>
            </a:r>
          </a:p>
          <a:p xmlns:a="http://schemas.openxmlformats.org/drawingml/2006/main">
            <a:r>
              <a:t>Transition : Dans PostgreSQL, on a aussi séparé les tables selon leur rôle.</a:t>
            </a:r>
          </a:p>
          <a:p xmlns:a="http://schemas.openxmlformats.org/drawingml/2006/main">
            <a:r>
              <a:t/>
            </a:r>
          </a:p>
          <a:p xmlns:a="http://schemas.openxmlformats.org/drawingml/2006/main">
            <a:r>
              <a:t>Sources internes : README.md, architecture médaillon ; plugins/marketplace_io.py ; init-db/schema.sql ; Constat local : 33 objets Bronze, 0 Silver, 0 Gold</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Exemple à expliquer : pour une journée, on conserve le JSON original dans Bronze. On structure ensuite ces données dans PostgreSQL, puis on calcule les indicateurs. Ici, les buckets MinIO Silver et Gold restent vides.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1:20</a:t>
            </a:r>
          </a:p>
          <a:p xmlns:a="http://schemas.openxmlformats.org/drawingml/2006/main">
            <a:r>
              <a:t/>
            </a:r>
          </a:p>
          <a:p xmlns:a="http://schemas.openxmlformats.org/drawingml/2006/main">
            <a:r>
              <a:t>On utilise trois schémas dans PostgreSQL, c’est-à-dire trois espaces pour ranger les tables. Staging reçoit les données relues depuis MinIO. Dwh contient le modèle en étoile. Au centre, fact_orders contient une ligne par commande, avec la quantité, le montant, le statut et la commission. Autour, les quatre dimensions décrivent le vendeur, le produit, le client et la date. Les identifiants permettent de faire les liens. Les clés étrangères empêchent aussi de charger une commande qui référence une dimension absente. Enfin, le schéma analytics contient les résumés que Metabase utilise. Cette séparation nous permet de garder les détails des commandes tout en fournissant des tables simples à interroger pour les graphiques.</a:t>
            </a:r>
          </a:p>
          <a:p xmlns:a="http://schemas.openxmlformats.org/drawingml/2006/main">
            <a:r>
              <a:t/>
            </a:r>
          </a:p>
          <a:p xmlns:a="http://schemas.openxmlformats.org/drawingml/2006/main">
            <a:r>
              <a:t>Transition : Mais bien ranger les données ne suffit pas : il faut aussi pouvoir relancer le traitement sans les compter deux fois.</a:t>
            </a:r>
          </a:p>
          <a:p xmlns:a="http://schemas.openxmlformats.org/drawingml/2006/main">
            <a:r>
              <a:t/>
            </a:r>
          </a:p>
          <a:p xmlns:a="http://schemas.openxmlformats.org/drawingml/2006/main">
            <a:r>
              <a:t>Sources internes : init-db/schema.sql ; dags/sql/ensure_dimensions.sql ; dags/sql/build_daily_summary.sql</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Exemple à expliquer : pour comparer les ventes par catégorie, on part du montant dans fact_orders et on retrouve la catégorie en passant par la dimension produit.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Rayan — durée indicative 1:20</a:t>
            </a:r>
          </a:p>
          <a:p xmlns:a="http://schemas.openxmlformats.org/drawingml/2006/main">
            <a:r>
              <a:t/>
            </a:r>
          </a:p>
          <a:p xmlns:a="http://schemas.openxmlformats.org/drawingml/2006/main">
            <a:r>
              <a:t>Ce comportement s’appelle l’idempotence. L’idée est simple : si on relance une journée, on ne veut pas doubler ses commandes. Dans MinIO, on réécrit le même fichier au même emplacement. Dans PostgreSQL, on supprime d’abord les lignes de la date choisie, puis on insère celles qu’on vient de préparer. On fait les deux opérations dans une transaction. Si l’insertion échoue, la base peut annuler la suppression au lieu de laisser une journée vide. Les autres dates restent en place. On a aussi un test d’intégration qui exécute deux fois la transformation et compare le résultat. Ça sert quand on corrige un traitement ou quand on veut recharger une journée passée, sans fausser les indicateurs du dashboard.</a:t>
            </a:r>
          </a:p>
          <a:p xmlns:a="http://schemas.openxmlformats.org/drawingml/2006/main">
            <a:r>
              <a:t/>
            </a:r>
          </a:p>
          <a:p xmlns:a="http://schemas.openxmlformats.org/drawingml/2006/main">
            <a:r>
              <a:t>Transition : Nassim va maintenant présenter comment Airflow enchaîne ces étapes et ce qu’on a vérifié au final.</a:t>
            </a:r>
          </a:p>
          <a:p xmlns:a="http://schemas.openxmlformats.org/drawingml/2006/main">
            <a:r>
              <a:t/>
            </a:r>
          </a:p>
          <a:p xmlns:a="http://schemas.openxmlformats.org/drawingml/2006/main">
            <a:r>
              <a:t>Sources internes : plugins/marketplace_io.py ; dags/sql/transform_fact_orders.sql ; tests/test_idempotence_dwh.py</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Exemple à expliquer : si on relance le 20 octobre, on remplace les lignes de cette date. On ne rajoute pas une deuxième fois les mêmes commandes.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1:30</a:t>
            </a:r>
          </a:p>
          <a:p xmlns:a="http://schemas.openxmlformats.org/drawingml/2006/main">
            <a:r>
              <a:t/>
            </a:r>
          </a:p>
          <a:p xmlns:a="http://schemas.openxmlformats.org/drawingml/2006/main">
            <a:r>
              <a:t>Dans Airflow, un DAG décrit les tâches et leurs dépendances. On en a trois. Le premier met à jour les dimensions. Le deuxième traite les commandes d’une journée : appel de l’API, écriture dans Bronze, relecture du fichier, chargement dans staging et transformation vers la table de faits. Le troisième recalcule les agrégations. Il démarre quand le DAG des commandes signale que les faits sont à jour, grâce à un Asset Airflow. Pour appeler l’API, on a un Hook qui centralise l’authentification et les requêtes. Les identifiants viennent des Connections Airflow configurées par l’environnement. On prévoit aussi des nouvelles tentatives en cas d’erreur temporaire. Dans l’interface, on peut vérifier quelles tâches ont réussi et consulter leurs logs si quelque chose bloque.</a:t>
            </a:r>
          </a:p>
          <a:p xmlns:a="http://schemas.openxmlformats.org/drawingml/2006/main">
            <a:r>
              <a:t/>
            </a:r>
          </a:p>
          <a:p xmlns:a="http://schemas.openxmlformats.org/drawingml/2006/main">
            <a:r>
              <a:t>Transition : Sur notre installation, on a ensuite chargé un historique pour vérifier le résultat de bout en bout.</a:t>
            </a:r>
          </a:p>
          <a:p xmlns:a="http://schemas.openxmlformats.org/drawingml/2006/main">
            <a:r>
              <a:t/>
            </a:r>
          </a:p>
          <a:p xmlns:a="http://schemas.openxmlformats.org/drawingml/2006/main">
            <a:r>
              <a:t>Sources internes : dags/marketplace_dims_refresh_daily.py ; dags/marketplace_orders_ingest_daily.py ; dags/marketplace_analytics_aggregate_daily.py ; plugins/hooks/marketplace_api_hook.py</a:t>
            </a:r>
          </a:p>
          <a:p xmlns:a="http://schemas.openxmlformats.org/drawingml/2006/main">
            <a:r>
              <a:t/>
            </a:r>
          </a:p>
          <a:p xmlns:a="http://schemas.openxmlformats.org/drawingml/2006/main">
            <a:r>
              <a:t>Sur la capture du 22/10/2026 : montrer les trois DAGs et les coches vertes. Le traitement des commandes publie l’Asset qui déclenche les agrégations.</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Sur la capture Airflow : les trois lignes correspondent aux trois DAGs. Les coches vertes indiquent une dernière exécution réussie. Les agrégations attendent la mise à jour des commandes via un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1:40</a:t>
            </a:r>
          </a:p>
          <a:p xmlns:a="http://schemas.openxmlformats.org/drawingml/2006/main">
            <a:r>
              <a:t/>
            </a:r>
          </a:p>
          <a:p xmlns:a="http://schemas.openxmlformats.org/drawingml/2006/main">
            <a:r>
              <a:t>On a chargé 30 jours, du 21 septembre au 20 octobre 2026, soit 31 643 commandes. Les 24 tests passent, dont le test d’idempotence. On a également comparé le chiffre d’affaires de la table de faits avec celui des trois tables d’agrégation : on retrouve le même total, environ 5,16 millions d’euros. Ce sont bien des données fictives. Pour le calcul du CA, notre règle exclut les commandes annulées ou remboursées. Dans Metabase, Executive Summary affiche notamment le CA, le panier moyen et les commissions. Le dashboard Top Sellers permet de comparer les vendeurs. Ici, la courbe reprend les sept dernières journées chargées dans notre installation.</a:t>
            </a:r>
          </a:p>
          <a:p xmlns:a="http://schemas.openxmlformats.org/drawingml/2006/main">
            <a:r>
              <a:t/>
            </a:r>
          </a:p>
          <a:p xmlns:a="http://schemas.openxmlformats.org/drawingml/2006/main">
            <a:r>
              <a:t>Transition : Pour terminer, voilà ce qu’on retient du projet et ce qu’il reste à améliorer.</a:t>
            </a:r>
          </a:p>
          <a:p xmlns:a="http://schemas.openxmlformats.org/drawingml/2006/main">
            <a:r>
              <a:t/>
            </a:r>
          </a:p>
          <a:p xmlns:a="http://schemas.openxmlformats.org/drawingml/2006/main">
            <a:r>
              <a:t>Démonstration : Si les onglets sont prêts, montrer Executive Summary pendant 30 à 40 secondes. Pointer la courbe du CA et les commissions. Revenir ensuite à la slide 9. Si la démo ne répond pas immédiatement, rester sur le graphique de cette slide.</a:t>
            </a:r>
          </a:p>
          <a:p xmlns:a="http://schemas.openxmlformats.org/drawingml/2006/main">
            <a:r>
              <a:t/>
            </a:r>
          </a:p>
          <a:p xmlns:a="http://schemas.openxmlformats.org/drawingml/2006/main">
            <a:r>
              <a:t>Sources internes : Vérifications SQL locales du 21 octobre 2026 ; logs/bootstrap-tests.log : 24 passed ; scripts/setup_metabase.py ; analytics.daily_summary, valeurs réelles du jeu fictif</a:t>
            </a:r>
          </a:p>
          <a:p xmlns:a="http://schemas.openxmlformats.org/drawingml/2006/main">
            <a:r>
              <a:t/>
            </a:r>
          </a:p>
          <a:p xmlns:a="http://schemas.openxmlformats.org/drawingml/2006/main">
            <a:r>
              <a:t>La capture Metabase date du 22/10/2026, après les traitements quotidiens. Les chiffres de validation et le graphique éditable restent ceux vérifiés le 21/10/2026.</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Sur la capture Metabase : la courbe montre les variations du CA et les barres comparent les vendeurs. La capture date du 22 octobre. Le bilan chiffré de cette slide reste le chargement vérifié le 21 octobre. Si les services répondent, ouvrir Executive Summary pendant 30 à 40 secondes et montrer aussi les commissions.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Nassim — durée indicative 1:00</a:t>
            </a:r>
          </a:p>
          <a:p xmlns:a="http://schemas.openxmlformats.org/drawingml/2006/main">
            <a:r>
              <a:t/>
            </a:r>
          </a:p>
          <a:p xmlns:a="http://schemas.openxmlformats.org/drawingml/2006/main">
            <a:r>
              <a:t>Au final, on a un parcours complet qui fonctionne, depuis l’API jusqu’aux dashboards. Les données brutes restent dans MinIO, les tables PostgreSQL structurent les commandes et Metabase permet de consulter les résultats. On peut recharger une date sans multiplier les lignes. Ce qu’on retient surtout, c’est l’importance de garder des données cohérentes et de vérifier les calculs à chaque étape. Il reste des améliorations : ajouter les contrôles qualité configurables, détecter les anomalies commerciales et alimenter les buckets Silver et Gold. La supervision Prometheus et Grafana fait aussi partie des bonus qu’on n’a pas réalisés dans cette version. Merci, on peut maintenant répondre à vos questions.</a:t>
            </a:r>
          </a:p>
          <a:p xmlns:a="http://schemas.openxmlformats.org/drawingml/2006/main">
            <a:r>
              <a:t/>
            </a:r>
          </a:p>
          <a:p xmlns:a="http://schemas.openxmlformats.org/drawingml/2006/main">
            <a:r>
              <a:t>Sources internes : README.md, limites et pistes d’amélioration ; Dépôt et contrôles de l’installation locale</a:t>
            </a:r>
          </a:p>
          <a:p xmlns:a="http://schemas.openxmlformats.org/drawingml/2006/main">
            <a:r>
              <a:t/>
            </a:r>
          </a:p>
          <a:p xmlns:a="http://schemas.openxmlformats.org/drawingml/2006/main">
            <a:r>
              <a:t>Format de présentation : environ 12 min 30 au total, maximum 15 minutes. Les repères incluent les explications des captures et une courte démonstration.</a:t>
            </a:r>
          </a:p>
          <a:p xmlns:a="http://schemas.openxmlformats.org/drawingml/2006/main">
            <a:r>
              <a:t/>
            </a:r>
          </a:p>
          <a:p xmlns:a="http://schemas.openxmlformats.org/drawingml/2006/main">
            <a:r>
              <a:t>À montrer ou à expliquer tranquillement : Pour conclure avec vos mots : le parcours fonctionne de bout en bout, mais les contrôles qualité et les exports Silver et Gold dans MinIO restent des améliorations à faire.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286cab849c4c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91a9aa185a42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6f3c4460df4f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0f83baafc341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ccabd7c61e48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24f0fdfeaa42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A44F78-C7DC-4FE2-B87E-65D61E412D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171EF1-0B1F-44D9-88AE-E3B2382D64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ADB0BC-5084-464B-B10F-6BC879458A7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18DD7D-A810-451C-87F5-45FB40ABD7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C403B3-5960-44B5-98F2-C4CC497C01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A43B60-822C-450F-9367-F5DDBF7EF0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05241E-70A3-49D7-BF3F-32E3B34646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D08CAA-B63B-4771-819E-33CC45C719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3A5C4A-1E90-4E7B-89AF-A44559A129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5D4D8A-EF24-4F45-ADF8-D94C4CC7C8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2a60ad5d794046" /><Relationship Type="http://schemas.openxmlformats.org/officeDocument/2006/relationships/slideLayout" Target="/ppt/slideLayouts/slideLayout1.xml" Id="Rf8eb3d9049144a09" /><Relationship Type="http://schemas.openxmlformats.org/officeDocument/2006/relationships/slideLayout" Target="/ppt/slideLayouts/slideLayout2.xml" Id="Raa4cbecc434f48a2" /><Relationship Type="http://schemas.openxmlformats.org/officeDocument/2006/relationships/slideLayout" Target="/ppt/slideLayouts/slideLayout3.xml" Id="R91ab8171a1c847fb" /><Relationship Type="http://schemas.openxmlformats.org/officeDocument/2006/relationships/slideLayout" Target="/ppt/slideLayouts/slideLayout4.xml" Id="R7da3c7a19dce4a68" /><Relationship Type="http://schemas.openxmlformats.org/officeDocument/2006/relationships/slideLayout" Target="/ppt/slideLayouts/slideLayout5.xml" Id="Rfd51cdcf7de5402a" /><Relationship Type="http://schemas.openxmlformats.org/officeDocument/2006/relationships/slideLayout" Target="/ppt/slideLayouts/slideLayout6.xml" Id="R2ce46008f7734f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eb3d9049144a09"/>
    <p:sldLayoutId xmlns:r="http://schemas.openxmlformats.org/officeDocument/2006/relationships" id="2147483650" r:id="Raa4cbecc434f48a2"/>
    <p:sldLayoutId xmlns:r="http://schemas.openxmlformats.org/officeDocument/2006/relationships" id="2147483651" r:id="R91ab8171a1c847fb"/>
    <p:sldLayoutId xmlns:r="http://schemas.openxmlformats.org/officeDocument/2006/relationships" id="2147483652" r:id="R7da3c7a19dce4a68"/>
    <p:sldLayoutId xmlns:r="http://schemas.openxmlformats.org/officeDocument/2006/relationships" id="2147483653" r:id="Rfd51cdcf7de5402a"/>
    <p:sldLayoutId xmlns:r="http://schemas.openxmlformats.org/officeDocument/2006/relationships" id="2147483654" r:id="R2ce46008f7734f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51d0c90fef544cd" /><Relationship Type="http://schemas.openxmlformats.org/officeDocument/2006/relationships/notesSlide" Target="/ppt/notesSlides/notesSlide1.xml" Id="R01aa178137a64f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e1a8b022014062" /><Relationship Type="http://schemas.openxmlformats.org/officeDocument/2006/relationships/notesSlide" Target="/ppt/notesSlides/notesSlide2.xml" Id="Rbacc249e348947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e5487bdf8f4019" /><Relationship Type="http://schemas.openxmlformats.org/officeDocument/2006/relationships/notesSlide" Target="/ppt/notesSlides/notesSlide3.xml" Id="Rc3f24ce1504f47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402e24d77a464c" /><Relationship Type="http://schemas.openxmlformats.org/officeDocument/2006/relationships/notesSlide" Target="/ppt/notesSlides/notesSlide4.xml" Id="Ra08cefdadf6344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e66d207dec47e6" /><Relationship Type="http://schemas.openxmlformats.org/officeDocument/2006/relationships/notesSlide" Target="/ppt/notesSlides/notesSlide5.xml" Id="Rdf3da61f8a4c44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feae4d088c42b0" /><Relationship Type="http://schemas.openxmlformats.org/officeDocument/2006/relationships/notesSlide" Target="/ppt/notesSlides/notesSlide6.xml" Id="Rd8378cdef2d74c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58f1358680a4dee" /><Relationship Type="http://schemas.openxmlformats.org/officeDocument/2006/relationships/image" Target="/ppt/media/image.jpeg" Id="Rda394073973442c9" /><Relationship Type="http://schemas.openxmlformats.org/officeDocument/2006/relationships/notesSlide" Target="/ppt/notesSlides/notesSlide7.xml" Id="R867c2742bb9047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7849ffe0814585" /><Relationship Type="http://schemas.openxmlformats.org/officeDocument/2006/relationships/chart" Target="/ppt/slides/charts/chart1.xml" Id="Rfca8ecf74a7f45dc" /><Relationship Type="http://schemas.openxmlformats.org/officeDocument/2006/relationships/image" Target="/ppt/media/image2.jpeg" Id="R946d406d04fe4c41" /><Relationship Type="http://schemas.openxmlformats.org/officeDocument/2006/relationships/notesSlide" Target="/ppt/notesSlides/notesSlide8.xml" Id="R7cc64a2c23eb4b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746ff789b94a63" /><Relationship Type="http://schemas.openxmlformats.org/officeDocument/2006/relationships/notesSlide" Target="/ppt/notesSlides/notesSlide9.xml" Id="R509e8f30f198404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a:solidFill>
                  <a:srgbClr val="163348"/>
                </a:solidFill>
              </a:rPr>
              <a:t>CA des 7 derniers jours (k€)</a:t>
            </a:r>
          </a:p>
        </c:rich>
      </c:tx>
      <c:overlay val="0"/>
      <c:txPr>
        <a:bodyPr xmlns:a="http://schemas.openxmlformats.org/drawingml/2006/main" anchorCtr="1"/>
        <a:lstStyle xmlns:a="http://schemas.openxmlformats.org/drawingml/2006/main"/>
        <a:p xmlns:a="http://schemas.openxmlformats.org/drawingml/2006/main">
          <a:pPr>
            <a:defRPr sz="1875">
              <a:solidFill>
                <a:srgbClr val="163348"/>
              </a:solidFill>
            </a:defRPr>
          </a:pPr>
        </a:p>
      </c:txPr>
    </c:title>
    <c:plotArea>
      <c:lineChart>
        <c:grouping val="standard"/>
        <c:varyColors val="0"/>
        <c:ser>
          <c:idx val="0"/>
          <c:order val="0"/>
          <c:tx>
            <c:v>CA simulé en k€</c:v>
          </c:tx>
          <c:spPr>
            <a:ln xmlns:a="http://schemas.openxmlformats.org/drawingml/2006/main" w="38100">
              <a:solidFill>
                <a:srgbClr val="087D79"/>
              </a:solidFill>
            </a:ln>
          </c:spPr>
          <c:marker>
            <c:symbol val="circle"/>
            <c:size val="6"/>
            <c:spPr>
              <a:solidFill xmlns:a="http://schemas.openxmlformats.org/drawingml/2006/main">
                <a:srgbClr val="087D79"/>
              </a:solidFill>
            </c:spPr>
          </c:marker>
          <c:cat>
            <c:strLit>
              <c:ptCount val="7"/>
              <c:pt idx="0">
                <c:v>14/10</c:v>
              </c:pt>
              <c:pt idx="1">
                <c:v>15/10</c:v>
              </c:pt>
              <c:pt idx="2">
                <c:v>16/10</c:v>
              </c:pt>
              <c:pt idx="3">
                <c:v>17/10</c:v>
              </c:pt>
              <c:pt idx="4">
                <c:v>18/10</c:v>
              </c:pt>
              <c:pt idx="5">
                <c:v>19/10</c:v>
              </c:pt>
              <c:pt idx="6">
                <c:v>20/10</c:v>
              </c:pt>
            </c:strLit>
          </c:cat>
          <c:val>
            <c:numLit>
              <c:formatCode>0</c:formatCode>
              <c:ptCount val="7"/>
              <c:pt idx="0">
                <c:v>178.6806</c:v>
              </c:pt>
              <c:pt idx="1">
                <c:v>163.25510999999997</c:v>
              </c:pt>
              <c:pt idx="2">
                <c:v>184.416</c:v>
              </c:pt>
              <c:pt idx="3">
                <c:v>196.01641</c:v>
              </c:pt>
              <c:pt idx="4">
                <c:v>180.06874</c:v>
              </c:pt>
              <c:pt idx="5">
                <c:v>165.42997</c:v>
              </c:pt>
              <c:pt idx="6">
                <c:v>171.2225</c:v>
              </c:pt>
            </c:numLit>
          </c:val>
          <c:smooth val="0"/>
        </c:ser>
        <c:dLbls>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B7C8D2"/>
            </a:solidFill>
          </a:ln>
        </c:spPr>
        <c:txPr>
          <a:bodyPr xmlns:a="http://schemas.openxmlformats.org/drawingml/2006/main" anchorCtr="1"/>
          <a:lstStyle xmlns:a="http://schemas.openxmlformats.org/drawingml/2006/main"/>
          <a:p xmlns:a="http://schemas.openxmlformats.org/drawingml/2006/main">
            <a:pPr>
              <a:defRPr sz="1725">
                <a:solidFill>
                  <a:srgbClr val="587080"/>
                </a:solidFill>
              </a:defRPr>
            </a:pPr>
          </a:p>
        </c:txPr>
        <c:crossAx val="48672768"/>
      </c:catAx>
      <c:valAx>
        <c:axId val="48672768"/>
        <c:scaling>
          <c:orientation val="minMax"/>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87080"/>
                </a:solidFill>
              </a:defRPr>
            </a:pPr>
          </a:p>
        </c:txPr>
        <c:crossAx val="48650112"/>
        <c:crossBetween val="between"/>
      </c:valAx>
      <c:spPr>
        <a:solidFill xmlns:a="http://schemas.openxmlformats.org/drawingml/2006/main">
          <a:srgbClr val="F3F6FA"/>
        </a:solidFill>
        <a:ln xmlns:a="http://schemas.openxmlformats.org/drawingml/2006/main" w="0">
          <a:noFill/>
        </a:ln>
      </c:spPr>
    </c:plotArea>
    <c:plotVisOnly val="1"/>
  </c:chart>
  <c:spPr>
    <a:solidFill xmlns:a="http://schemas.openxmlformats.org/drawingml/2006/main">
      <a:srgbClr val="F3F6FA"/>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B3D"/>
        </a:solidFill>
      </p:bgPr>
    </p:bg>
    <p:spTree>
      <p:nvGrpSpPr>
        <p:cNvPr id="1" name=""/>
        <p:cNvGrpSpPr/>
        <p:nvPr/>
      </p:nvGrpSpPr>
      <p:grpSpPr>
        <a:xfrm xmlns:a="http://schemas.openxmlformats.org/drawingml/2006/main"/>
      </p:grpSpPr>
      <p:sp>
        <p:nvSpPr>
          <p:cNvPr id="2" name="type-projet">
            <a:extLst xmlns:a="http://schemas.openxmlformats.org/drawingml/2006/main">
              <a:ext uri="{FF2B5EF4-FFF2-40B4-BE49-F238E27FC236}">
                <a16:creationId xmlns:a16="http://schemas.microsoft.com/office/drawing/2014/main" id="{302526B8-A417-467C-ADEB-8D38AE4B8E20}"/>
              </a:ext>
            </a:extLst>
          </p:cNvPr>
          <p:cNvSpPr>
            <a:spLocks xmlns:a="http://schemas.openxmlformats.org/drawingml/2006/main" noGrp="1"/>
          </p:cNvSpPr>
          <p:nvPr/>
        </p:nvSpPr>
        <p:spPr>
          <a:xfrm xmlns:a="http://schemas.openxmlformats.org/drawingml/2006/main">
            <a:off x="685800" y="66675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7DE1CE"/>
                </a:solidFill>
                <a:latin typeface="Arial"/>
                <a:ea typeface="Arial"/>
                <a:cs typeface="Arial"/>
              </a:defRPr>
            </a:defPPr>
            <a:lvl1pPr algn="l">
              <a:defRPr sz="1575" b="1">
                <a:solidFill>
                  <a:srgbClr val="7DE1CE"/>
                </a:solidFill>
                <a:latin typeface="Arial"/>
                <a:ea typeface="Arial"/>
                <a:cs typeface="Arial"/>
              </a:defRPr>
            </a:lvl1pPr>
            <a:lvl2pPr algn="l">
              <a:defRPr sz="1575" b="1">
                <a:solidFill>
                  <a:srgbClr val="7DE1CE"/>
                </a:solidFill>
                <a:latin typeface="Arial"/>
                <a:ea typeface="Arial"/>
                <a:cs typeface="Arial"/>
              </a:defRPr>
            </a:lvl2pPr>
            <a:lvl3pPr algn="l">
              <a:defRPr sz="1575" b="1">
                <a:solidFill>
                  <a:srgbClr val="7DE1CE"/>
                </a:solidFill>
                <a:latin typeface="Arial"/>
                <a:ea typeface="Arial"/>
                <a:cs typeface="Arial"/>
              </a:defRPr>
            </a:lvl3pPr>
            <a:lvl4pPr algn="l">
              <a:defRPr sz="1575" b="1">
                <a:solidFill>
                  <a:srgbClr val="7DE1CE"/>
                </a:solidFill>
                <a:latin typeface="Arial"/>
                <a:ea typeface="Arial"/>
                <a:cs typeface="Arial"/>
              </a:defRPr>
            </a:lvl4pPr>
            <a:lvl5pPr algn="l">
              <a:defRPr sz="1575" b="1">
                <a:solidFill>
                  <a:srgbClr val="7DE1CE"/>
                </a:solidFill>
                <a:latin typeface="Arial"/>
                <a:ea typeface="Arial"/>
                <a:cs typeface="Arial"/>
              </a:defRPr>
            </a:lvl5pPr>
            <a:lvl6pPr algn="l">
              <a:defRPr sz="1575" b="1">
                <a:solidFill>
                  <a:srgbClr val="7DE1CE"/>
                </a:solidFill>
                <a:latin typeface="Arial"/>
                <a:ea typeface="Arial"/>
                <a:cs typeface="Arial"/>
              </a:defRPr>
            </a:lvl6pPr>
            <a:lvl7pPr algn="l">
              <a:defRPr sz="1575" b="1">
                <a:solidFill>
                  <a:srgbClr val="7DE1CE"/>
                </a:solidFill>
                <a:latin typeface="Arial"/>
                <a:ea typeface="Arial"/>
                <a:cs typeface="Arial"/>
              </a:defRPr>
            </a:lvl7pPr>
            <a:lvl8pPr algn="l">
              <a:defRPr sz="1575" b="1">
                <a:solidFill>
                  <a:srgbClr val="7DE1CE"/>
                </a:solidFill>
                <a:latin typeface="Arial"/>
                <a:ea typeface="Arial"/>
                <a:cs typeface="Arial"/>
              </a:defRPr>
            </a:lvl8pPr>
            <a:lvl9pPr algn="l">
              <a:defRPr sz="1575" b="1">
                <a:solidFill>
                  <a:srgbClr val="7DE1CE"/>
                </a:solidFill>
                <a:latin typeface="Arial"/>
                <a:ea typeface="Arial"/>
                <a:cs typeface="Arial"/>
              </a:defRPr>
            </a:lvl9pPr>
          </a:lstStyle>
          <a:p xmlns:a="http://schemas.openxmlformats.org/drawingml/2006/main">
            <a:pPr algn="l">
              <a:defRPr sz="1575" b="1">
                <a:solidFill>
                  <a:srgbClr val="7DE1CE"/>
                </a:solidFill>
                <a:latin typeface="Arial"/>
                <a:ea typeface="Arial"/>
                <a:cs typeface="Arial"/>
              </a:defRPr>
            </a:pPr>
            <a:r>
              <a:rPr sz="1575" b="1">
                <a:solidFill>
                  <a:srgbClr val="7DE1CE"/>
                </a:solidFill>
                <a:latin typeface="Arial"/>
                <a:ea typeface="Arial"/>
                <a:cs typeface="Arial"/>
              </a:rPr>
              <a:t>PROJET DATA LAKE</a:t>
            </a:r>
          </a:p>
        </p:txBody>
      </p:sp>
      <p:sp>
        <p:nvSpPr>
          <p:cNvPr id="3" name="titre">
            <a:extLst xmlns:a="http://schemas.openxmlformats.org/drawingml/2006/main">
              <a:ext uri="{FF2B5EF4-FFF2-40B4-BE49-F238E27FC236}">
                <a16:creationId xmlns:a16="http://schemas.microsoft.com/office/drawing/2014/main" id="{4142C0FA-C71C-4914-8B16-1A1D1FD1CBA8}"/>
              </a:ext>
            </a:extLst>
          </p:cNvPr>
          <p:cNvSpPr>
            <a:spLocks xmlns:a="http://schemas.openxmlformats.org/drawingml/2006/main" noGrp="1"/>
          </p:cNvSpPr>
          <p:nvPr/>
        </p:nvSpPr>
        <p:spPr>
          <a:xfrm xmlns:a="http://schemas.openxmlformats.org/drawingml/2006/main">
            <a:off x="685800" y="1495425"/>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300" b="1">
                <a:solidFill>
                  <a:srgbClr val="FFFFFF"/>
                </a:solidFill>
                <a:latin typeface="Arial"/>
                <a:ea typeface="Arial"/>
                <a:cs typeface="Arial"/>
              </a:defRPr>
            </a:defPPr>
            <a:lvl1pPr algn="l">
              <a:defRPr sz="6300" b="1">
                <a:solidFill>
                  <a:srgbClr val="FFFFFF"/>
                </a:solidFill>
                <a:latin typeface="Arial"/>
                <a:ea typeface="Arial"/>
                <a:cs typeface="Arial"/>
              </a:defRPr>
            </a:lvl1pPr>
            <a:lvl2pPr algn="l">
              <a:defRPr sz="6300" b="1">
                <a:solidFill>
                  <a:srgbClr val="FFFFFF"/>
                </a:solidFill>
                <a:latin typeface="Arial"/>
                <a:ea typeface="Arial"/>
                <a:cs typeface="Arial"/>
              </a:defRPr>
            </a:lvl2pPr>
            <a:lvl3pPr algn="l">
              <a:defRPr sz="6300" b="1">
                <a:solidFill>
                  <a:srgbClr val="FFFFFF"/>
                </a:solidFill>
                <a:latin typeface="Arial"/>
                <a:ea typeface="Arial"/>
                <a:cs typeface="Arial"/>
              </a:defRPr>
            </a:lvl3pPr>
            <a:lvl4pPr algn="l">
              <a:defRPr sz="6300" b="1">
                <a:solidFill>
                  <a:srgbClr val="FFFFFF"/>
                </a:solidFill>
                <a:latin typeface="Arial"/>
                <a:ea typeface="Arial"/>
                <a:cs typeface="Arial"/>
              </a:defRPr>
            </a:lvl4pPr>
            <a:lvl5pPr algn="l">
              <a:defRPr sz="6300" b="1">
                <a:solidFill>
                  <a:srgbClr val="FFFFFF"/>
                </a:solidFill>
                <a:latin typeface="Arial"/>
                <a:ea typeface="Arial"/>
                <a:cs typeface="Arial"/>
              </a:defRPr>
            </a:lvl5pPr>
            <a:lvl6pPr algn="l">
              <a:defRPr sz="6300" b="1">
                <a:solidFill>
                  <a:srgbClr val="FFFFFF"/>
                </a:solidFill>
                <a:latin typeface="Arial"/>
                <a:ea typeface="Arial"/>
                <a:cs typeface="Arial"/>
              </a:defRPr>
            </a:lvl6pPr>
            <a:lvl7pPr algn="l">
              <a:defRPr sz="6300" b="1">
                <a:solidFill>
                  <a:srgbClr val="FFFFFF"/>
                </a:solidFill>
                <a:latin typeface="Arial"/>
                <a:ea typeface="Arial"/>
                <a:cs typeface="Arial"/>
              </a:defRPr>
            </a:lvl7pPr>
            <a:lvl8pPr algn="l">
              <a:defRPr sz="6300" b="1">
                <a:solidFill>
                  <a:srgbClr val="FFFFFF"/>
                </a:solidFill>
                <a:latin typeface="Arial"/>
                <a:ea typeface="Arial"/>
                <a:cs typeface="Arial"/>
              </a:defRPr>
            </a:lvl8pPr>
            <a:lvl9pPr algn="l">
              <a:defRPr sz="6300" b="1">
                <a:solidFill>
                  <a:srgbClr val="FFFFFF"/>
                </a:solidFill>
                <a:latin typeface="Arial"/>
                <a:ea typeface="Arial"/>
                <a:cs typeface="Arial"/>
              </a:defRPr>
            </a:lvl9pPr>
          </a:lstStyle>
          <a:p xmlns:a="http://schemas.openxmlformats.org/drawingml/2006/main">
            <a:pPr algn="l">
              <a:defRPr sz="6300" b="1">
                <a:solidFill>
                  <a:srgbClr val="FFFFFF"/>
                </a:solidFill>
                <a:latin typeface="Arial"/>
                <a:ea typeface="Arial"/>
                <a:cs typeface="Arial"/>
              </a:defRPr>
            </a:pPr>
            <a:r>
              <a:rPr sz="6300" b="1">
                <a:solidFill>
                  <a:srgbClr val="FFFFFF"/>
                </a:solidFill>
                <a:latin typeface="Arial"/>
                <a:ea typeface="Arial"/>
                <a:cs typeface="Arial"/>
              </a:rPr>
              <a:t>MarketPlace</a:t>
            </a:r>
          </a:p>
        </p:txBody>
      </p:sp>
      <p:sp>
        <p:nvSpPr>
          <p:cNvPr id="4" name="titre-suite">
            <a:extLst xmlns:a="http://schemas.openxmlformats.org/drawingml/2006/main">
              <a:ext uri="{FF2B5EF4-FFF2-40B4-BE49-F238E27FC236}">
                <a16:creationId xmlns:a16="http://schemas.microsoft.com/office/drawing/2014/main" id="{26924D8E-A87F-432E-9F94-797701FD43AD}"/>
              </a:ext>
            </a:extLst>
          </p:cNvPr>
          <p:cNvSpPr>
            <a:spLocks xmlns:a="http://schemas.openxmlformats.org/drawingml/2006/main" noGrp="1"/>
          </p:cNvSpPr>
          <p:nvPr/>
        </p:nvSpPr>
        <p:spPr>
          <a:xfrm xmlns:a="http://schemas.openxmlformats.org/drawingml/2006/main">
            <a:off x="685800" y="2495550"/>
            <a:ext cx="714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6300" b="1">
                <a:solidFill>
                  <a:srgbClr val="7DE1CE"/>
                </a:solidFill>
                <a:latin typeface="Arial"/>
                <a:ea typeface="Arial"/>
                <a:cs typeface="Arial"/>
              </a:defRPr>
            </a:defPPr>
            <a:lvl1pPr algn="l">
              <a:defRPr sz="6300" b="1">
                <a:solidFill>
                  <a:srgbClr val="7DE1CE"/>
                </a:solidFill>
                <a:latin typeface="Arial"/>
                <a:ea typeface="Arial"/>
                <a:cs typeface="Arial"/>
              </a:defRPr>
            </a:lvl1pPr>
            <a:lvl2pPr algn="l">
              <a:defRPr sz="6300" b="1">
                <a:solidFill>
                  <a:srgbClr val="7DE1CE"/>
                </a:solidFill>
                <a:latin typeface="Arial"/>
                <a:ea typeface="Arial"/>
                <a:cs typeface="Arial"/>
              </a:defRPr>
            </a:lvl2pPr>
            <a:lvl3pPr algn="l">
              <a:defRPr sz="6300" b="1">
                <a:solidFill>
                  <a:srgbClr val="7DE1CE"/>
                </a:solidFill>
                <a:latin typeface="Arial"/>
                <a:ea typeface="Arial"/>
                <a:cs typeface="Arial"/>
              </a:defRPr>
            </a:lvl3pPr>
            <a:lvl4pPr algn="l">
              <a:defRPr sz="6300" b="1">
                <a:solidFill>
                  <a:srgbClr val="7DE1CE"/>
                </a:solidFill>
                <a:latin typeface="Arial"/>
                <a:ea typeface="Arial"/>
                <a:cs typeface="Arial"/>
              </a:defRPr>
            </a:lvl4pPr>
            <a:lvl5pPr algn="l">
              <a:defRPr sz="6300" b="1">
                <a:solidFill>
                  <a:srgbClr val="7DE1CE"/>
                </a:solidFill>
                <a:latin typeface="Arial"/>
                <a:ea typeface="Arial"/>
                <a:cs typeface="Arial"/>
              </a:defRPr>
            </a:lvl5pPr>
            <a:lvl6pPr algn="l">
              <a:defRPr sz="6300" b="1">
                <a:solidFill>
                  <a:srgbClr val="7DE1CE"/>
                </a:solidFill>
                <a:latin typeface="Arial"/>
                <a:ea typeface="Arial"/>
                <a:cs typeface="Arial"/>
              </a:defRPr>
            </a:lvl6pPr>
            <a:lvl7pPr algn="l">
              <a:defRPr sz="6300" b="1">
                <a:solidFill>
                  <a:srgbClr val="7DE1CE"/>
                </a:solidFill>
                <a:latin typeface="Arial"/>
                <a:ea typeface="Arial"/>
                <a:cs typeface="Arial"/>
              </a:defRPr>
            </a:lvl7pPr>
            <a:lvl8pPr algn="l">
              <a:defRPr sz="6300" b="1">
                <a:solidFill>
                  <a:srgbClr val="7DE1CE"/>
                </a:solidFill>
                <a:latin typeface="Arial"/>
                <a:ea typeface="Arial"/>
                <a:cs typeface="Arial"/>
              </a:defRPr>
            </a:lvl8pPr>
            <a:lvl9pPr algn="l">
              <a:defRPr sz="6300" b="1">
                <a:solidFill>
                  <a:srgbClr val="7DE1CE"/>
                </a:solidFill>
                <a:latin typeface="Arial"/>
                <a:ea typeface="Arial"/>
                <a:cs typeface="Arial"/>
              </a:defRPr>
            </a:lvl9pPr>
          </a:lstStyle>
          <a:p xmlns:a="http://schemas.openxmlformats.org/drawingml/2006/main">
            <a:pPr algn="l">
              <a:defRPr sz="6300" b="1">
                <a:solidFill>
                  <a:srgbClr val="7DE1CE"/>
                </a:solidFill>
                <a:latin typeface="Arial"/>
                <a:ea typeface="Arial"/>
                <a:cs typeface="Arial"/>
              </a:defRPr>
            </a:pPr>
            <a:r>
              <a:rPr sz="6300" b="1">
                <a:solidFill>
                  <a:srgbClr val="7DE1CE"/>
                </a:solidFill>
                <a:latin typeface="Arial"/>
                <a:ea typeface="Arial"/>
                <a:cs typeface="Arial"/>
              </a:rPr>
              <a:t>Analytics</a:t>
            </a:r>
          </a:p>
        </p:txBody>
      </p:sp>
      <p:sp>
        <p:nvSpPr>
          <p:cNvPr id="5" name="sous-titre">
            <a:extLst xmlns:a="http://schemas.openxmlformats.org/drawingml/2006/main">
              <a:ext uri="{FF2B5EF4-FFF2-40B4-BE49-F238E27FC236}">
                <a16:creationId xmlns:a16="http://schemas.microsoft.com/office/drawing/2014/main" id="{6D795A98-EF9D-459E-9662-8647CF83D423}"/>
              </a:ext>
            </a:extLst>
          </p:cNvPr>
          <p:cNvSpPr>
            <a:spLocks xmlns:a="http://schemas.openxmlformats.org/drawingml/2006/main" noGrp="1"/>
          </p:cNvSpPr>
          <p:nvPr/>
        </p:nvSpPr>
        <p:spPr>
          <a:xfrm xmlns:a="http://schemas.openxmlformats.org/drawingml/2006/main">
            <a:off x="685800" y="3867150"/>
            <a:ext cx="7239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FFFFFF"/>
                </a:solidFill>
                <a:latin typeface="Arial"/>
                <a:ea typeface="Arial"/>
                <a:cs typeface="Arial"/>
              </a:defRPr>
            </a:defPPr>
            <a:lvl1pPr algn="l">
              <a:defRPr sz="2400" b="0">
                <a:solidFill>
                  <a:srgbClr val="FFFFFF"/>
                </a:solidFill>
                <a:latin typeface="Arial"/>
                <a:ea typeface="Arial"/>
                <a:cs typeface="Arial"/>
              </a:defRPr>
            </a:lvl1pPr>
            <a:lvl2pPr algn="l">
              <a:defRPr sz="2400" b="0">
                <a:solidFill>
                  <a:srgbClr val="FFFFFF"/>
                </a:solidFill>
                <a:latin typeface="Arial"/>
                <a:ea typeface="Arial"/>
                <a:cs typeface="Arial"/>
              </a:defRPr>
            </a:lvl2pPr>
            <a:lvl3pPr algn="l">
              <a:defRPr sz="2400" b="0">
                <a:solidFill>
                  <a:srgbClr val="FFFFFF"/>
                </a:solidFill>
                <a:latin typeface="Arial"/>
                <a:ea typeface="Arial"/>
                <a:cs typeface="Arial"/>
              </a:defRPr>
            </a:lvl3pPr>
            <a:lvl4pPr algn="l">
              <a:defRPr sz="2400" b="0">
                <a:solidFill>
                  <a:srgbClr val="FFFFFF"/>
                </a:solidFill>
                <a:latin typeface="Arial"/>
                <a:ea typeface="Arial"/>
                <a:cs typeface="Arial"/>
              </a:defRPr>
            </a:lvl4pPr>
            <a:lvl5pPr algn="l">
              <a:defRPr sz="2400" b="0">
                <a:solidFill>
                  <a:srgbClr val="FFFFFF"/>
                </a:solidFill>
                <a:latin typeface="Arial"/>
                <a:ea typeface="Arial"/>
                <a:cs typeface="Arial"/>
              </a:defRPr>
            </a:lvl5pPr>
            <a:lvl6pPr algn="l">
              <a:defRPr sz="2400" b="0">
                <a:solidFill>
                  <a:srgbClr val="FFFFFF"/>
                </a:solidFill>
                <a:latin typeface="Arial"/>
                <a:ea typeface="Arial"/>
                <a:cs typeface="Arial"/>
              </a:defRPr>
            </a:lvl6pPr>
            <a:lvl7pPr algn="l">
              <a:defRPr sz="2400" b="0">
                <a:solidFill>
                  <a:srgbClr val="FFFFFF"/>
                </a:solidFill>
                <a:latin typeface="Arial"/>
                <a:ea typeface="Arial"/>
                <a:cs typeface="Arial"/>
              </a:defRPr>
            </a:lvl7pPr>
            <a:lvl8pPr algn="l">
              <a:defRPr sz="2400" b="0">
                <a:solidFill>
                  <a:srgbClr val="FFFFFF"/>
                </a:solidFill>
                <a:latin typeface="Arial"/>
                <a:ea typeface="Arial"/>
                <a:cs typeface="Arial"/>
              </a:defRPr>
            </a:lvl8pPr>
            <a:lvl9pPr algn="l">
              <a:defRPr sz="2400" b="0">
                <a:solidFill>
                  <a:srgbClr val="FFFFFF"/>
                </a:solidFill>
                <a:latin typeface="Arial"/>
                <a:ea typeface="Arial"/>
                <a:cs typeface="Arial"/>
              </a:defRPr>
            </a:lvl9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Des commandes fictives aux tableaux de bord</a:t>
            </a:r>
          </a:p>
        </p:txBody>
      </p:sp>
      <p:sp>
        <p:nvSpPr>
          <p:cNvPr id="6" name="objectif">
            <a:extLst xmlns:a="http://schemas.openxmlformats.org/drawingml/2006/main">
              <a:ext uri="{FF2B5EF4-FFF2-40B4-BE49-F238E27FC236}">
                <a16:creationId xmlns:a16="http://schemas.microsoft.com/office/drawing/2014/main" id="{7BB31C9D-C5E5-43BC-8DC6-26B198B16FDE}"/>
              </a:ext>
            </a:extLst>
          </p:cNvPr>
          <p:cNvSpPr>
            <a:spLocks xmlns:a="http://schemas.openxmlformats.org/drawingml/2006/main" noGrp="1"/>
          </p:cNvSpPr>
          <p:nvPr/>
        </p:nvSpPr>
        <p:spPr>
          <a:xfrm xmlns:a="http://schemas.openxmlformats.org/drawingml/2006/main">
            <a:off x="685800" y="5095875"/>
            <a:ext cx="723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C1D0D8"/>
                </a:solidFill>
                <a:latin typeface="Arial"/>
                <a:ea typeface="Arial"/>
                <a:cs typeface="Arial"/>
              </a:defRPr>
            </a:defPPr>
            <a:lvl1pPr algn="l">
              <a:defRPr sz="2175" b="0">
                <a:solidFill>
                  <a:srgbClr val="C1D0D8"/>
                </a:solidFill>
                <a:latin typeface="Arial"/>
                <a:ea typeface="Arial"/>
                <a:cs typeface="Arial"/>
              </a:defRPr>
            </a:lvl1pPr>
            <a:lvl2pPr algn="l">
              <a:defRPr sz="2175" b="0">
                <a:solidFill>
                  <a:srgbClr val="C1D0D8"/>
                </a:solidFill>
                <a:latin typeface="Arial"/>
                <a:ea typeface="Arial"/>
                <a:cs typeface="Arial"/>
              </a:defRPr>
            </a:lvl2pPr>
            <a:lvl3pPr algn="l">
              <a:defRPr sz="2175" b="0">
                <a:solidFill>
                  <a:srgbClr val="C1D0D8"/>
                </a:solidFill>
                <a:latin typeface="Arial"/>
                <a:ea typeface="Arial"/>
                <a:cs typeface="Arial"/>
              </a:defRPr>
            </a:lvl3pPr>
            <a:lvl4pPr algn="l">
              <a:defRPr sz="2175" b="0">
                <a:solidFill>
                  <a:srgbClr val="C1D0D8"/>
                </a:solidFill>
                <a:latin typeface="Arial"/>
                <a:ea typeface="Arial"/>
                <a:cs typeface="Arial"/>
              </a:defRPr>
            </a:lvl4pPr>
            <a:lvl5pPr algn="l">
              <a:defRPr sz="2175" b="0">
                <a:solidFill>
                  <a:srgbClr val="C1D0D8"/>
                </a:solidFill>
                <a:latin typeface="Arial"/>
                <a:ea typeface="Arial"/>
                <a:cs typeface="Arial"/>
              </a:defRPr>
            </a:lvl5pPr>
            <a:lvl6pPr algn="l">
              <a:defRPr sz="2175" b="0">
                <a:solidFill>
                  <a:srgbClr val="C1D0D8"/>
                </a:solidFill>
                <a:latin typeface="Arial"/>
                <a:ea typeface="Arial"/>
                <a:cs typeface="Arial"/>
              </a:defRPr>
            </a:lvl6pPr>
            <a:lvl7pPr algn="l">
              <a:defRPr sz="2175" b="0">
                <a:solidFill>
                  <a:srgbClr val="C1D0D8"/>
                </a:solidFill>
                <a:latin typeface="Arial"/>
                <a:ea typeface="Arial"/>
                <a:cs typeface="Arial"/>
              </a:defRPr>
            </a:lvl7pPr>
            <a:lvl8pPr algn="l">
              <a:defRPr sz="2175" b="0">
                <a:solidFill>
                  <a:srgbClr val="C1D0D8"/>
                </a:solidFill>
                <a:latin typeface="Arial"/>
                <a:ea typeface="Arial"/>
                <a:cs typeface="Arial"/>
              </a:defRPr>
            </a:lvl8pPr>
            <a:lvl9pPr algn="l">
              <a:defRPr sz="2175" b="0">
                <a:solidFill>
                  <a:srgbClr val="C1D0D8"/>
                </a:solidFill>
                <a:latin typeface="Arial"/>
                <a:ea typeface="Arial"/>
                <a:cs typeface="Arial"/>
              </a:defRPr>
            </a:lvl9pPr>
          </a:lstStyle>
          <a:p xmlns:a="http://schemas.openxmlformats.org/drawingml/2006/main">
            <a:pPr algn="l">
              <a:defRPr sz="2175" b="0">
                <a:solidFill>
                  <a:srgbClr val="C1D0D8"/>
                </a:solidFill>
                <a:latin typeface="Arial"/>
                <a:ea typeface="Arial"/>
                <a:cs typeface="Arial"/>
              </a:defRPr>
            </a:pPr>
            <a:r>
              <a:rPr sz="2175" b="0">
                <a:solidFill>
                  <a:srgbClr val="C1D0D8"/>
                </a:solidFill>
                <a:latin typeface="Arial"/>
                <a:ea typeface="Arial"/>
                <a:cs typeface="Arial"/>
              </a:rPr>
              <a:t>Automatiser les commandes</a:t>
            </a:r>
          </a:p>
          <a:p xmlns:a="http://schemas.openxmlformats.org/drawingml/2006/main">
            <a:pPr algn="l">
              <a:defRPr sz="2175" b="0">
                <a:solidFill>
                  <a:srgbClr val="C1D0D8"/>
                </a:solidFill>
                <a:latin typeface="Arial"/>
                <a:ea typeface="Arial"/>
                <a:cs typeface="Arial"/>
              </a:defRPr>
            </a:pPr>
            <a:r>
              <a:rPr sz="2175" b="0">
                <a:solidFill>
                  <a:srgbClr val="C1D0D8"/>
                </a:solidFill>
                <a:latin typeface="Arial"/>
                <a:ea typeface="Arial"/>
                <a:cs typeface="Arial"/>
              </a:rPr>
              <a:t>et suivre les ventes</a:t>
            </a:r>
          </a:p>
        </p:txBody>
      </p:sp>
      <p:sp>
        <p:nvSpPr>
          <p:cNvPr id="7" name="commission">
            <a:extLst xmlns:a="http://schemas.openxmlformats.org/drawingml/2006/main">
              <a:ext uri="{FF2B5EF4-FFF2-40B4-BE49-F238E27FC236}">
                <a16:creationId xmlns:a16="http://schemas.microsoft.com/office/drawing/2014/main" id="{15044B6B-13E2-4A58-97B6-007BE6101918}"/>
              </a:ext>
            </a:extLst>
          </p:cNvPr>
          <p:cNvSpPr>
            <a:spLocks xmlns:a="http://schemas.openxmlformats.org/drawingml/2006/main" noGrp="1"/>
          </p:cNvSpPr>
          <p:nvPr/>
        </p:nvSpPr>
        <p:spPr>
          <a:xfrm xmlns:a="http://schemas.openxmlformats.org/drawingml/2006/main">
            <a:off x="8715375" y="2095500"/>
            <a:ext cx="285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350" b="1">
                <a:solidFill>
                  <a:srgbClr val="F2B46D"/>
                </a:solidFill>
                <a:latin typeface="Arial"/>
                <a:ea typeface="Arial"/>
                <a:cs typeface="Arial"/>
              </a:defRPr>
            </a:defPPr>
            <a:lvl1pPr algn="l">
              <a:defRPr sz="7350" b="1">
                <a:solidFill>
                  <a:srgbClr val="F2B46D"/>
                </a:solidFill>
                <a:latin typeface="Arial"/>
                <a:ea typeface="Arial"/>
                <a:cs typeface="Arial"/>
              </a:defRPr>
            </a:lvl1pPr>
            <a:lvl2pPr algn="l">
              <a:defRPr sz="7350" b="1">
                <a:solidFill>
                  <a:srgbClr val="F2B46D"/>
                </a:solidFill>
                <a:latin typeface="Arial"/>
                <a:ea typeface="Arial"/>
                <a:cs typeface="Arial"/>
              </a:defRPr>
            </a:lvl2pPr>
            <a:lvl3pPr algn="l">
              <a:defRPr sz="7350" b="1">
                <a:solidFill>
                  <a:srgbClr val="F2B46D"/>
                </a:solidFill>
                <a:latin typeface="Arial"/>
                <a:ea typeface="Arial"/>
                <a:cs typeface="Arial"/>
              </a:defRPr>
            </a:lvl3pPr>
            <a:lvl4pPr algn="l">
              <a:defRPr sz="7350" b="1">
                <a:solidFill>
                  <a:srgbClr val="F2B46D"/>
                </a:solidFill>
                <a:latin typeface="Arial"/>
                <a:ea typeface="Arial"/>
                <a:cs typeface="Arial"/>
              </a:defRPr>
            </a:lvl4pPr>
            <a:lvl5pPr algn="l">
              <a:defRPr sz="7350" b="1">
                <a:solidFill>
                  <a:srgbClr val="F2B46D"/>
                </a:solidFill>
                <a:latin typeface="Arial"/>
                <a:ea typeface="Arial"/>
                <a:cs typeface="Arial"/>
              </a:defRPr>
            </a:lvl5pPr>
            <a:lvl6pPr algn="l">
              <a:defRPr sz="7350" b="1">
                <a:solidFill>
                  <a:srgbClr val="F2B46D"/>
                </a:solidFill>
                <a:latin typeface="Arial"/>
                <a:ea typeface="Arial"/>
                <a:cs typeface="Arial"/>
              </a:defRPr>
            </a:lvl6pPr>
            <a:lvl7pPr algn="l">
              <a:defRPr sz="7350" b="1">
                <a:solidFill>
                  <a:srgbClr val="F2B46D"/>
                </a:solidFill>
                <a:latin typeface="Arial"/>
                <a:ea typeface="Arial"/>
                <a:cs typeface="Arial"/>
              </a:defRPr>
            </a:lvl7pPr>
            <a:lvl8pPr algn="l">
              <a:defRPr sz="7350" b="1">
                <a:solidFill>
                  <a:srgbClr val="F2B46D"/>
                </a:solidFill>
                <a:latin typeface="Arial"/>
                <a:ea typeface="Arial"/>
                <a:cs typeface="Arial"/>
              </a:defRPr>
            </a:lvl8pPr>
            <a:lvl9pPr algn="l">
              <a:defRPr sz="7350" b="1">
                <a:solidFill>
                  <a:srgbClr val="F2B46D"/>
                </a:solidFill>
                <a:latin typeface="Arial"/>
                <a:ea typeface="Arial"/>
                <a:cs typeface="Arial"/>
              </a:defRPr>
            </a:lvl9pPr>
          </a:lstStyle>
          <a:p xmlns:a="http://schemas.openxmlformats.org/drawingml/2006/main">
            <a:pPr algn="l">
              <a:defRPr sz="7350" b="1">
                <a:solidFill>
                  <a:srgbClr val="F2B46D"/>
                </a:solidFill>
                <a:latin typeface="Arial"/>
                <a:ea typeface="Arial"/>
                <a:cs typeface="Arial"/>
              </a:defRPr>
            </a:pPr>
            <a:r>
              <a:rPr sz="7350" b="1">
                <a:solidFill>
                  <a:srgbClr val="F2B46D"/>
                </a:solidFill>
                <a:latin typeface="Arial"/>
                <a:ea typeface="Arial"/>
                <a:cs typeface="Arial"/>
              </a:rPr>
              <a:t>12 %</a:t>
            </a:r>
          </a:p>
        </p:txBody>
      </p:sp>
      <p:sp>
        <p:nvSpPr>
          <p:cNvPr id="8" name="commission-label">
            <a:extLst xmlns:a="http://schemas.openxmlformats.org/drawingml/2006/main">
              <a:ext uri="{FF2B5EF4-FFF2-40B4-BE49-F238E27FC236}">
                <a16:creationId xmlns:a16="http://schemas.microsoft.com/office/drawing/2014/main" id="{BC159AED-43A0-47BF-BE67-A389A3D6F7AB}"/>
              </a:ext>
            </a:extLst>
          </p:cNvPr>
          <p:cNvSpPr>
            <a:spLocks xmlns:a="http://schemas.openxmlformats.org/drawingml/2006/main" noGrp="1"/>
          </p:cNvSpPr>
          <p:nvPr/>
        </p:nvSpPr>
        <p:spPr>
          <a:xfrm xmlns:a="http://schemas.openxmlformats.org/drawingml/2006/main">
            <a:off x="8715375" y="33623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FFFFFF"/>
                </a:solidFill>
                <a:latin typeface="Arial"/>
                <a:ea typeface="Arial"/>
                <a:cs typeface="Arial"/>
              </a:defRPr>
            </a:defPPr>
            <a:lvl1pPr algn="l">
              <a:defRPr sz="2175" b="0">
                <a:solidFill>
                  <a:srgbClr val="FFFFFF"/>
                </a:solidFill>
                <a:latin typeface="Arial"/>
                <a:ea typeface="Arial"/>
                <a:cs typeface="Arial"/>
              </a:defRPr>
            </a:lvl1pPr>
            <a:lvl2pPr algn="l">
              <a:defRPr sz="2175" b="0">
                <a:solidFill>
                  <a:srgbClr val="FFFFFF"/>
                </a:solidFill>
                <a:latin typeface="Arial"/>
                <a:ea typeface="Arial"/>
                <a:cs typeface="Arial"/>
              </a:defRPr>
            </a:lvl2pPr>
            <a:lvl3pPr algn="l">
              <a:defRPr sz="2175" b="0">
                <a:solidFill>
                  <a:srgbClr val="FFFFFF"/>
                </a:solidFill>
                <a:latin typeface="Arial"/>
                <a:ea typeface="Arial"/>
                <a:cs typeface="Arial"/>
              </a:defRPr>
            </a:lvl3pPr>
            <a:lvl4pPr algn="l">
              <a:defRPr sz="2175" b="0">
                <a:solidFill>
                  <a:srgbClr val="FFFFFF"/>
                </a:solidFill>
                <a:latin typeface="Arial"/>
                <a:ea typeface="Arial"/>
                <a:cs typeface="Arial"/>
              </a:defRPr>
            </a:lvl4pPr>
            <a:lvl5pPr algn="l">
              <a:defRPr sz="2175" b="0">
                <a:solidFill>
                  <a:srgbClr val="FFFFFF"/>
                </a:solidFill>
                <a:latin typeface="Arial"/>
                <a:ea typeface="Arial"/>
                <a:cs typeface="Arial"/>
              </a:defRPr>
            </a:lvl5pPr>
            <a:lvl6pPr algn="l">
              <a:defRPr sz="2175" b="0">
                <a:solidFill>
                  <a:srgbClr val="FFFFFF"/>
                </a:solidFill>
                <a:latin typeface="Arial"/>
                <a:ea typeface="Arial"/>
                <a:cs typeface="Arial"/>
              </a:defRPr>
            </a:lvl6pPr>
            <a:lvl7pPr algn="l">
              <a:defRPr sz="2175" b="0">
                <a:solidFill>
                  <a:srgbClr val="FFFFFF"/>
                </a:solidFill>
                <a:latin typeface="Arial"/>
                <a:ea typeface="Arial"/>
                <a:cs typeface="Arial"/>
              </a:defRPr>
            </a:lvl7pPr>
            <a:lvl8pPr algn="l">
              <a:defRPr sz="2175" b="0">
                <a:solidFill>
                  <a:srgbClr val="FFFFFF"/>
                </a:solidFill>
                <a:latin typeface="Arial"/>
                <a:ea typeface="Arial"/>
                <a:cs typeface="Arial"/>
              </a:defRPr>
            </a:lvl8pPr>
            <a:lvl9pPr algn="l">
              <a:defRPr sz="2175" b="0">
                <a:solidFill>
                  <a:srgbClr val="FFFFFF"/>
                </a:solidFill>
                <a:latin typeface="Arial"/>
                <a:ea typeface="Arial"/>
                <a:cs typeface="Arial"/>
              </a:defRPr>
            </a:lvl9pPr>
          </a:lstStyle>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de commission</a:t>
            </a:r>
          </a:p>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sur une vente</a:t>
            </a:r>
          </a:p>
        </p:txBody>
      </p:sp>
      <p:sp>
        <p:nvSpPr>
          <p:cNvPr id="9" name="contexte">
            <a:extLst xmlns:a="http://schemas.openxmlformats.org/drawingml/2006/main">
              <a:ext uri="{FF2B5EF4-FFF2-40B4-BE49-F238E27FC236}">
                <a16:creationId xmlns:a16="http://schemas.microsoft.com/office/drawing/2014/main" id="{9CE53F82-C105-42B5-97C1-E74F327D2403}"/>
              </a:ext>
            </a:extLst>
          </p:cNvPr>
          <p:cNvSpPr>
            <a:spLocks xmlns:a="http://schemas.openxmlformats.org/drawingml/2006/main" noGrp="1"/>
          </p:cNvSpPr>
          <p:nvPr/>
        </p:nvSpPr>
        <p:spPr>
          <a:xfrm xmlns:a="http://schemas.openxmlformats.org/drawingml/2006/main">
            <a:off x="8715375" y="4552950"/>
            <a:ext cx="285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C1D0D8"/>
                </a:solidFill>
                <a:latin typeface="Arial"/>
                <a:ea typeface="Arial"/>
                <a:cs typeface="Arial"/>
              </a:defRPr>
            </a:defPPr>
            <a:lvl1pPr algn="l">
              <a:defRPr sz="1725" b="0">
                <a:solidFill>
                  <a:srgbClr val="C1D0D8"/>
                </a:solidFill>
                <a:latin typeface="Arial"/>
                <a:ea typeface="Arial"/>
                <a:cs typeface="Arial"/>
              </a:defRPr>
            </a:lvl1pPr>
            <a:lvl2pPr algn="l">
              <a:defRPr sz="1725" b="0">
                <a:solidFill>
                  <a:srgbClr val="C1D0D8"/>
                </a:solidFill>
                <a:latin typeface="Arial"/>
                <a:ea typeface="Arial"/>
                <a:cs typeface="Arial"/>
              </a:defRPr>
            </a:lvl2pPr>
            <a:lvl3pPr algn="l">
              <a:defRPr sz="1725" b="0">
                <a:solidFill>
                  <a:srgbClr val="C1D0D8"/>
                </a:solidFill>
                <a:latin typeface="Arial"/>
                <a:ea typeface="Arial"/>
                <a:cs typeface="Arial"/>
              </a:defRPr>
            </a:lvl3pPr>
            <a:lvl4pPr algn="l">
              <a:defRPr sz="1725" b="0">
                <a:solidFill>
                  <a:srgbClr val="C1D0D8"/>
                </a:solidFill>
                <a:latin typeface="Arial"/>
                <a:ea typeface="Arial"/>
                <a:cs typeface="Arial"/>
              </a:defRPr>
            </a:lvl4pPr>
            <a:lvl5pPr algn="l">
              <a:defRPr sz="1725" b="0">
                <a:solidFill>
                  <a:srgbClr val="C1D0D8"/>
                </a:solidFill>
                <a:latin typeface="Arial"/>
                <a:ea typeface="Arial"/>
                <a:cs typeface="Arial"/>
              </a:defRPr>
            </a:lvl5pPr>
            <a:lvl6pPr algn="l">
              <a:defRPr sz="1725" b="0">
                <a:solidFill>
                  <a:srgbClr val="C1D0D8"/>
                </a:solidFill>
                <a:latin typeface="Arial"/>
                <a:ea typeface="Arial"/>
                <a:cs typeface="Arial"/>
              </a:defRPr>
            </a:lvl6pPr>
            <a:lvl7pPr algn="l">
              <a:defRPr sz="1725" b="0">
                <a:solidFill>
                  <a:srgbClr val="C1D0D8"/>
                </a:solidFill>
                <a:latin typeface="Arial"/>
                <a:ea typeface="Arial"/>
                <a:cs typeface="Arial"/>
              </a:defRPr>
            </a:lvl7pPr>
            <a:lvl8pPr algn="l">
              <a:defRPr sz="1725" b="0">
                <a:solidFill>
                  <a:srgbClr val="C1D0D8"/>
                </a:solidFill>
                <a:latin typeface="Arial"/>
                <a:ea typeface="Arial"/>
                <a:cs typeface="Arial"/>
              </a:defRPr>
            </a:lvl8pPr>
            <a:lvl9pPr algn="l">
              <a:defRPr sz="1725" b="0">
                <a:solidFill>
                  <a:srgbClr val="C1D0D8"/>
                </a:solidFill>
                <a:latin typeface="Arial"/>
                <a:ea typeface="Arial"/>
                <a:cs typeface="Arial"/>
              </a:defRPr>
            </a:lvl9pPr>
          </a:lstStyle>
          <a:p xmlns:a="http://schemas.openxmlformats.org/drawingml/2006/main">
            <a:pPr algn="l">
              <a:defRPr sz="1725" b="0">
                <a:solidFill>
                  <a:srgbClr val="C1D0D8"/>
                </a:solidFill>
                <a:latin typeface="Arial"/>
                <a:ea typeface="Arial"/>
                <a:cs typeface="Arial"/>
              </a:defRPr>
            </a:pPr>
            <a:r>
              <a:rPr sz="1725" b="0">
                <a:solidFill>
                  <a:srgbClr val="C1D0D8"/>
                </a:solidFill>
                <a:latin typeface="Arial"/>
                <a:ea typeface="Arial"/>
                <a:cs typeface="Arial"/>
              </a:rPr>
              <a:t>Marketplace fictive</a:t>
            </a:r>
          </a:p>
        </p:txBody>
      </p:sp>
      <p:sp>
        <p:nvSpPr>
          <p:cNvPr id="10" name="equipe">
            <a:extLst xmlns:a="http://schemas.openxmlformats.org/drawingml/2006/main">
              <a:ext uri="{FF2B5EF4-FFF2-40B4-BE49-F238E27FC236}">
                <a16:creationId xmlns:a16="http://schemas.microsoft.com/office/drawing/2014/main" id="{3D7E8B08-1A59-4899-A1E3-3D6F6640BCF8}"/>
              </a:ext>
            </a:extLst>
          </p:cNvPr>
          <p:cNvSpPr>
            <a:spLocks xmlns:a="http://schemas.openxmlformats.org/drawingml/2006/main" noGrp="1"/>
          </p:cNvSpPr>
          <p:nvPr/>
        </p:nvSpPr>
        <p:spPr>
          <a:xfrm xmlns:a="http://schemas.openxmlformats.org/drawingml/2006/main">
            <a:off x="685800" y="62293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FFFFF"/>
                </a:solidFill>
                <a:latin typeface="Arial"/>
                <a:ea typeface="Arial"/>
                <a:cs typeface="Arial"/>
              </a:defRPr>
            </a:defPPr>
            <a:lvl1pPr algn="l">
              <a:defRPr sz="1725" b="1">
                <a:solidFill>
                  <a:srgbClr val="FFFFFF"/>
                </a:solidFill>
                <a:latin typeface="Arial"/>
                <a:ea typeface="Arial"/>
                <a:cs typeface="Arial"/>
              </a:defRPr>
            </a:lvl1pPr>
            <a:lvl2pPr algn="l">
              <a:defRPr sz="1725" b="1">
                <a:solidFill>
                  <a:srgbClr val="FFFFFF"/>
                </a:solidFill>
                <a:latin typeface="Arial"/>
                <a:ea typeface="Arial"/>
                <a:cs typeface="Arial"/>
              </a:defRPr>
            </a:lvl2pPr>
            <a:lvl3pPr algn="l">
              <a:defRPr sz="1725" b="1">
                <a:solidFill>
                  <a:srgbClr val="FFFFFF"/>
                </a:solidFill>
                <a:latin typeface="Arial"/>
                <a:ea typeface="Arial"/>
                <a:cs typeface="Arial"/>
              </a:defRPr>
            </a:lvl3pPr>
            <a:lvl4pPr algn="l">
              <a:defRPr sz="1725" b="1">
                <a:solidFill>
                  <a:srgbClr val="FFFFFF"/>
                </a:solidFill>
                <a:latin typeface="Arial"/>
                <a:ea typeface="Arial"/>
                <a:cs typeface="Arial"/>
              </a:defRPr>
            </a:lvl4pPr>
            <a:lvl5pPr algn="l">
              <a:defRPr sz="1725" b="1">
                <a:solidFill>
                  <a:srgbClr val="FFFFFF"/>
                </a:solidFill>
                <a:latin typeface="Arial"/>
                <a:ea typeface="Arial"/>
                <a:cs typeface="Arial"/>
              </a:defRPr>
            </a:lvl5pPr>
            <a:lvl6pPr algn="l">
              <a:defRPr sz="1725" b="1">
                <a:solidFill>
                  <a:srgbClr val="FFFFFF"/>
                </a:solidFill>
                <a:latin typeface="Arial"/>
                <a:ea typeface="Arial"/>
                <a:cs typeface="Arial"/>
              </a:defRPr>
            </a:lvl6pPr>
            <a:lvl7pPr algn="l">
              <a:defRPr sz="1725" b="1">
                <a:solidFill>
                  <a:srgbClr val="FFFFFF"/>
                </a:solidFill>
                <a:latin typeface="Arial"/>
                <a:ea typeface="Arial"/>
                <a:cs typeface="Arial"/>
              </a:defRPr>
            </a:lvl7pPr>
            <a:lvl8pPr algn="l">
              <a:defRPr sz="1725" b="1">
                <a:solidFill>
                  <a:srgbClr val="FFFFFF"/>
                </a:solidFill>
                <a:latin typeface="Arial"/>
                <a:ea typeface="Arial"/>
                <a:cs typeface="Arial"/>
              </a:defRPr>
            </a:lvl8pPr>
            <a:lvl9pPr algn="l">
              <a:defRPr sz="1725" b="1">
                <a:solidFill>
                  <a:srgbClr val="FFFFFF"/>
                </a:solidFill>
                <a:latin typeface="Arial"/>
                <a:ea typeface="Arial"/>
                <a:cs typeface="Arial"/>
              </a:defRPr>
            </a:lvl9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Medy, Rayan et Nassim</a:t>
            </a:r>
          </a:p>
        </p:txBody>
      </p:sp>
      <p:sp>
        <p:nvSpPr>
          <p:cNvPr id="11" name="numero">
            <a:extLst xmlns:a="http://schemas.openxmlformats.org/drawingml/2006/main">
              <a:ext uri="{FF2B5EF4-FFF2-40B4-BE49-F238E27FC236}">
                <a16:creationId xmlns:a16="http://schemas.microsoft.com/office/drawing/2014/main" id="{104F49C4-235F-45D4-9FFE-2ADC2ECBB967}"/>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A9C3CF"/>
                </a:solidFill>
                <a:latin typeface="Arial"/>
                <a:ea typeface="Arial"/>
                <a:cs typeface="Arial"/>
              </a:defRPr>
            </a:defPPr>
            <a:lvl1pPr algn="l">
              <a:defRPr sz="1350" b="0">
                <a:solidFill>
                  <a:srgbClr val="A9C3CF"/>
                </a:solidFill>
                <a:latin typeface="Arial"/>
                <a:ea typeface="Arial"/>
                <a:cs typeface="Arial"/>
              </a:defRPr>
            </a:lvl1pPr>
            <a:lvl2pPr algn="l">
              <a:defRPr sz="1350" b="0">
                <a:solidFill>
                  <a:srgbClr val="A9C3CF"/>
                </a:solidFill>
                <a:latin typeface="Arial"/>
                <a:ea typeface="Arial"/>
                <a:cs typeface="Arial"/>
              </a:defRPr>
            </a:lvl2pPr>
            <a:lvl3pPr algn="l">
              <a:defRPr sz="1350" b="0">
                <a:solidFill>
                  <a:srgbClr val="A9C3CF"/>
                </a:solidFill>
                <a:latin typeface="Arial"/>
                <a:ea typeface="Arial"/>
                <a:cs typeface="Arial"/>
              </a:defRPr>
            </a:lvl3pPr>
            <a:lvl4pPr algn="l">
              <a:defRPr sz="1350" b="0">
                <a:solidFill>
                  <a:srgbClr val="A9C3CF"/>
                </a:solidFill>
                <a:latin typeface="Arial"/>
                <a:ea typeface="Arial"/>
                <a:cs typeface="Arial"/>
              </a:defRPr>
            </a:lvl4pPr>
            <a:lvl5pPr algn="l">
              <a:defRPr sz="1350" b="0">
                <a:solidFill>
                  <a:srgbClr val="A9C3CF"/>
                </a:solidFill>
                <a:latin typeface="Arial"/>
                <a:ea typeface="Arial"/>
                <a:cs typeface="Arial"/>
              </a:defRPr>
            </a:lvl5pPr>
            <a:lvl6pPr algn="l">
              <a:defRPr sz="1350" b="0">
                <a:solidFill>
                  <a:srgbClr val="A9C3CF"/>
                </a:solidFill>
                <a:latin typeface="Arial"/>
                <a:ea typeface="Arial"/>
                <a:cs typeface="Arial"/>
              </a:defRPr>
            </a:lvl6pPr>
            <a:lvl7pPr algn="l">
              <a:defRPr sz="1350" b="0">
                <a:solidFill>
                  <a:srgbClr val="A9C3CF"/>
                </a:solidFill>
                <a:latin typeface="Arial"/>
                <a:ea typeface="Arial"/>
                <a:cs typeface="Arial"/>
              </a:defRPr>
            </a:lvl7pPr>
            <a:lvl8pPr algn="l">
              <a:defRPr sz="1350" b="0">
                <a:solidFill>
                  <a:srgbClr val="A9C3CF"/>
                </a:solidFill>
                <a:latin typeface="Arial"/>
                <a:ea typeface="Arial"/>
                <a:cs typeface="Arial"/>
              </a:defRPr>
            </a:lvl8pPr>
            <a:lvl9pPr algn="l">
              <a:defRPr sz="1350" b="0">
                <a:solidFill>
                  <a:srgbClr val="A9C3CF"/>
                </a:solidFill>
                <a:latin typeface="Arial"/>
                <a:ea typeface="Arial"/>
                <a:cs typeface="Arial"/>
              </a:defRPr>
            </a:lvl9pPr>
          </a:lstStyle>
          <a:p xmlns:a="http://schemas.openxmlformats.org/drawingml/2006/main">
            <a:pPr algn="l">
              <a:defRPr sz="1350" b="0">
                <a:solidFill>
                  <a:srgbClr val="A9C3CF"/>
                </a:solidFill>
                <a:latin typeface="Arial"/>
                <a:ea typeface="Arial"/>
                <a:cs typeface="Arial"/>
              </a:defRPr>
            </a:pPr>
            <a:r>
              <a:rPr sz="1350" b="0">
                <a:solidFill>
                  <a:srgbClr val="A9C3CF"/>
                </a:solidFill>
                <a:latin typeface="Arial"/>
                <a:ea typeface="Arial"/>
                <a:cs typeface="Arial"/>
              </a:rPr>
              <a:t>01 / 09</a:t>
            </a:r>
          </a:p>
        </p:txBody>
      </p:sp>
    </p:spTree>
    <p:extLst>
      <p:ext uri="{BB962C8B-B14F-4D97-AF65-F5344CB8AC3E}">
        <p14:creationId xmlns:p14="http://schemas.microsoft.com/office/powerpoint/2010/main" val="1120158809"/>
      </p:ext>
    </p:extLst>
  </p:cSld>
</p:sld>
</file>

<file path=ppt/slides/slide2.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5F3871E5-21CE-452C-ACF7-24A0F90FFB4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 rôle des outils</a:t>
            </a:r>
          </a:p>
        </p:txBody>
      </p:sp>
      <p:graphicFrame>
        <p:nvGraphicFramePr>
          <p:cNvPr id="3" name="">
            <a:extLst xmlns:a="http://schemas.openxmlformats.org/drawingml/2006/main">
              <a:ext uri="{FF2B5EF4-FFF2-40B4-BE49-F238E27FC236}">
                <a16:creationId xmlns:a16="http://schemas.microsoft.com/office/drawing/2014/main" id="{D906E32C-8BB0-4DFD-934E-59E0FC2A4D81}"/>
              </a:ext>
            </a:extLst>
          </p:cNvPr>
          <p:cNvGraphicFramePr/>
          <p:nvPr/>
        </p:nvGraphicFramePr>
        <p:xfrm>
          <a:off xmlns:a="http://schemas.openxmlformats.org/drawingml/2006/main" x="685800" y="1657350"/>
          <a:ext xmlns:a="http://schemas.openxmlformats.org/drawingml/2006/main" cx="10820400" cy="3829050"/>
        </p:xfrm>
        <a:graphic xmlns:a="http://schemas.openxmlformats.org/drawingml/2006/main">
          <a:graphicData uri="http://schemas.openxmlformats.org/drawingml/2006/table">
            <a:tbl>
              <a:tblPr firstRow="1" firstCol="0" bandRow="0"/>
              <a:tblGrid>
                <a:gridCol w="2724150"/>
                <a:gridCol w="8096250"/>
              </a:tblGrid>
              <a:tr h="638175">
                <a:tc>
                  <a:txBody>
                    <a:bodyPr/>
                    <a:lstStyle/>
                    <a:p>
                      <a:r>
                        <a:rPr sz="1800" b="1">
                          <a:solidFill>
                            <a:srgbClr val="FFFFFF"/>
                          </a:solidFill>
                          <a:latin typeface="Arial"/>
                          <a:ea typeface="Arial"/>
                          <a:cs typeface="Arial"/>
                        </a:rPr>
                        <a:t>Outil</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À quoi il sert dans notre projet</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638175">
                <a:tc>
                  <a:txBody>
                    <a:bodyPr/>
                    <a:lstStyle/>
                    <a:p>
                      <a:r>
                        <a:rPr sz="1950" b="1">
                          <a:solidFill>
                            <a:srgbClr val="087D79"/>
                          </a:solidFill>
                          <a:latin typeface="Arial"/>
                          <a:ea typeface="Arial"/>
                          <a:cs typeface="Arial"/>
                        </a:rPr>
                        <a:t>Faker et Flask</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Créer les données fictives et les fournir via une API</a:t>
                      </a:r>
                    </a:p>
                  </a:txBody>
                  <a:tcPr marL="91440" marR="91440" marT="45720" marB="45720">
                    <a:lnR w="19050">
                      <a:solidFill>
                        <a:srgbClr val="FFFFFF"/>
                      </a:solidFill>
                      <a:prstDash val="solid"/>
                    </a:lnR>
                    <a:lnB w="19050">
                      <a:solidFill>
                        <a:srgbClr val="FFFFFF"/>
                      </a:solidFill>
                      <a:prstDash val="solid"/>
                    </a:lnB>
                    <a:solidFill>
                      <a:srgbClr val="FFFFFF"/>
                    </a:solidFill>
                  </a:tcPr>
                </a:tc>
              </a:tr>
              <a:tr h="638175">
                <a:tc>
                  <a:txBody>
                    <a:bodyPr/>
                    <a:lstStyle/>
                    <a:p>
                      <a:r>
                        <a:rPr sz="1950" b="1">
                          <a:solidFill>
                            <a:srgbClr val="087D79"/>
                          </a:solidFill>
                          <a:latin typeface="Arial"/>
                          <a:ea typeface="Arial"/>
                          <a:cs typeface="Arial"/>
                        </a:rPr>
                        <a:t>Airflow</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Lancer les traitements dans le bon ordre</a:t>
                      </a:r>
                    </a:p>
                  </a:txBody>
                  <a:tcPr marL="91440" marR="91440" marT="45720" marB="45720">
                    <a:lnR w="19050">
                      <a:solidFill>
                        <a:srgbClr val="FFFFFF"/>
                      </a:solidFill>
                      <a:prstDash val="solid"/>
                    </a:lnR>
                    <a:lnB w="19050">
                      <a:solidFill>
                        <a:srgbClr val="FFFFFF"/>
                      </a:solidFill>
                      <a:prstDash val="solid"/>
                    </a:lnB>
                    <a:solidFill>
                      <a:srgbClr val="EAF0F5"/>
                    </a:solidFill>
                  </a:tcPr>
                </a:tc>
              </a:tr>
              <a:tr h="638175">
                <a:tc>
                  <a:txBody>
                    <a:bodyPr/>
                    <a:lstStyle/>
                    <a:p>
                      <a:r>
                        <a:rPr sz="1950" b="1">
                          <a:solidFill>
                            <a:srgbClr val="087D79"/>
                          </a:solidFill>
                          <a:latin typeface="Arial"/>
                          <a:ea typeface="Arial"/>
                          <a:cs typeface="Arial"/>
                        </a:rPr>
                        <a:t>MinIO</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Conserver les fichiers JSON bruts</a:t>
                      </a:r>
                    </a:p>
                  </a:txBody>
                  <a:tcPr marL="91440" marR="91440" marT="45720" marB="45720">
                    <a:lnR w="19050">
                      <a:solidFill>
                        <a:srgbClr val="FFFFFF"/>
                      </a:solidFill>
                      <a:prstDash val="solid"/>
                    </a:lnR>
                    <a:lnB w="19050">
                      <a:solidFill>
                        <a:srgbClr val="FFFFFF"/>
                      </a:solidFill>
                      <a:prstDash val="solid"/>
                    </a:lnB>
                    <a:solidFill>
                      <a:srgbClr val="FFFFFF"/>
                    </a:solidFill>
                  </a:tcPr>
                </a:tc>
              </a:tr>
              <a:tr h="638175">
                <a:tc>
                  <a:txBody>
                    <a:bodyPr/>
                    <a:lstStyle/>
                    <a:p>
                      <a:r>
                        <a:rPr sz="1950" b="1">
                          <a:solidFill>
                            <a:srgbClr val="087D79"/>
                          </a:solidFill>
                          <a:latin typeface="Arial"/>
                          <a:ea typeface="Arial"/>
                          <a:cs typeface="Arial"/>
                        </a:rPr>
                        <a:t>PostgreSQL</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Organiser les données et calculer les indicateurs</a:t>
                      </a:r>
                    </a:p>
                  </a:txBody>
                  <a:tcPr marL="91440" marR="91440" marT="45720" marB="45720">
                    <a:lnR w="19050">
                      <a:solidFill>
                        <a:srgbClr val="FFFFFF"/>
                      </a:solidFill>
                      <a:prstDash val="solid"/>
                    </a:lnR>
                    <a:lnB w="19050">
                      <a:solidFill>
                        <a:srgbClr val="FFFFFF"/>
                      </a:solidFill>
                      <a:prstDash val="solid"/>
                    </a:lnB>
                    <a:solidFill>
                      <a:srgbClr val="EAF0F5"/>
                    </a:solidFill>
                  </a:tcPr>
                </a:tc>
              </a:tr>
              <a:tr h="638175">
                <a:tc>
                  <a:txBody>
                    <a:bodyPr/>
                    <a:lstStyle/>
                    <a:p>
                      <a:r>
                        <a:rPr sz="1950" b="1">
                          <a:solidFill>
                            <a:srgbClr val="087D79"/>
                          </a:solidFill>
                          <a:latin typeface="Arial"/>
                          <a:ea typeface="Arial"/>
                          <a:cs typeface="Arial"/>
                        </a:rPr>
                        <a:t>Metabase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Afficher les résultats dans des dashboards</a:t>
                      </a:r>
                    </a:p>
                  </a:txBody>
                  <a:tcPr marL="91440" marR="91440" marT="45720" marB="45720">
                    <a:lnR w="19050">
                      <a:solidFill>
                        <a:srgbClr val="FFFFFF"/>
                      </a:solidFill>
                      <a:prstDash val="solid"/>
                    </a:lnR>
                    <a:lnB w="19050">
                      <a:solidFill>
                        <a:srgbClr val="FFFFFF"/>
                      </a:solidFill>
                      <a:prstDash val="solid"/>
                    </a:lnB>
                    <a:solidFill>
                      <a:srgbClr val="FFFFFF"/>
                    </a:solidFill>
                  </a:tcPr>
                </a:tc>
              </a:tr>
            </a:tbl>
          </a:graphicData>
        </a:graphic>
      </p:graphicFrame>
      <p:sp>
        <p:nvSpPr>
          <p:cNvPr id="4" name="a-retenir">
            <a:extLst xmlns:a="http://schemas.openxmlformats.org/drawingml/2006/main">
              <a:ext uri="{FF2B5EF4-FFF2-40B4-BE49-F238E27FC236}">
                <a16:creationId xmlns:a16="http://schemas.microsoft.com/office/drawing/2014/main" id="{1AAAA56C-5D68-403F-B79E-C8DE296A57F7}"/>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Docker Compose démarre les services et les relie entre eux.</a:t>
            </a:r>
          </a:p>
        </p:txBody>
      </p:sp>
      <p:sp>
        <p:nvSpPr>
          <p:cNvPr id="5" name="intervenant">
            <a:extLst xmlns:a="http://schemas.openxmlformats.org/drawingml/2006/main">
              <a:ext uri="{FF2B5EF4-FFF2-40B4-BE49-F238E27FC236}">
                <a16:creationId xmlns:a16="http://schemas.microsoft.com/office/drawing/2014/main" id="{1B4CB2FF-2AE1-4A4B-B7EA-9EAAD9CC83FE}"/>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Medy   1:35</a:t>
            </a:r>
          </a:p>
        </p:txBody>
      </p:sp>
      <p:sp>
        <p:nvSpPr>
          <p:cNvPr id="6" name="numero">
            <a:extLst xmlns:a="http://schemas.openxmlformats.org/drawingml/2006/main">
              <a:ext uri="{FF2B5EF4-FFF2-40B4-BE49-F238E27FC236}">
                <a16:creationId xmlns:a16="http://schemas.microsoft.com/office/drawing/2014/main" id="{9336916D-63A9-49F5-B15A-6B90676259A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02 / 09</a:t>
            </a:r>
          </a:p>
        </p:txBody>
      </p:sp>
    </p:spTree>
    <p:extLst>
      <p:ext uri="{BB962C8B-B14F-4D97-AF65-F5344CB8AC3E}">
        <p14:creationId xmlns:p14="http://schemas.microsoft.com/office/powerpoint/2010/main" val="961613599"/>
      </p:ext>
    </p:extLst>
  </p:cSld>
</p:sld>
</file>

<file path=ppt/slides/slide3.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367C6D83-F247-4373-B666-BDA5DD323DE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Nos données fictives</a:t>
            </a:r>
          </a:p>
        </p:txBody>
      </p:sp>
      <p:sp>
        <p:nvSpPr>
          <p:cNvPr id="3" name="chiffre-0">
            <a:extLst xmlns:a="http://schemas.openxmlformats.org/drawingml/2006/main">
              <a:ext uri="{FF2B5EF4-FFF2-40B4-BE49-F238E27FC236}">
                <a16:creationId xmlns:a16="http://schemas.microsoft.com/office/drawing/2014/main" id="{BBE9BECF-CACE-470F-956E-F34F8D8BD4BF}"/>
              </a:ext>
            </a:extLst>
          </p:cNvPr>
          <p:cNvSpPr>
            <a:spLocks xmlns:a="http://schemas.openxmlformats.org/drawingml/2006/main" noGrp="1"/>
          </p:cNvSpPr>
          <p:nvPr/>
        </p:nvSpPr>
        <p:spPr>
          <a:xfrm xmlns:a="http://schemas.openxmlformats.org/drawingml/2006/main">
            <a:off x="685800"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087D79"/>
                </a:solidFill>
                <a:latin typeface="Arial"/>
                <a:ea typeface="Arial"/>
                <a:cs typeface="Arial"/>
              </a:defRPr>
            </a:defPPr>
            <a:lvl1pPr algn="l">
              <a:defRPr sz="5700" b="1">
                <a:solidFill>
                  <a:srgbClr val="087D79"/>
                </a:solidFill>
                <a:latin typeface="Arial"/>
                <a:ea typeface="Arial"/>
                <a:cs typeface="Arial"/>
              </a:defRPr>
            </a:lvl1pPr>
            <a:lvl2pPr algn="l">
              <a:defRPr sz="5700" b="1">
                <a:solidFill>
                  <a:srgbClr val="087D79"/>
                </a:solidFill>
                <a:latin typeface="Arial"/>
                <a:ea typeface="Arial"/>
                <a:cs typeface="Arial"/>
              </a:defRPr>
            </a:lvl2pPr>
            <a:lvl3pPr algn="l">
              <a:defRPr sz="5700" b="1">
                <a:solidFill>
                  <a:srgbClr val="087D79"/>
                </a:solidFill>
                <a:latin typeface="Arial"/>
                <a:ea typeface="Arial"/>
                <a:cs typeface="Arial"/>
              </a:defRPr>
            </a:lvl3pPr>
            <a:lvl4pPr algn="l">
              <a:defRPr sz="5700" b="1">
                <a:solidFill>
                  <a:srgbClr val="087D79"/>
                </a:solidFill>
                <a:latin typeface="Arial"/>
                <a:ea typeface="Arial"/>
                <a:cs typeface="Arial"/>
              </a:defRPr>
            </a:lvl4pPr>
            <a:lvl5pPr algn="l">
              <a:defRPr sz="5700" b="1">
                <a:solidFill>
                  <a:srgbClr val="087D79"/>
                </a:solidFill>
                <a:latin typeface="Arial"/>
                <a:ea typeface="Arial"/>
                <a:cs typeface="Arial"/>
              </a:defRPr>
            </a:lvl5pPr>
            <a:lvl6pPr algn="l">
              <a:defRPr sz="5700" b="1">
                <a:solidFill>
                  <a:srgbClr val="087D79"/>
                </a:solidFill>
                <a:latin typeface="Arial"/>
                <a:ea typeface="Arial"/>
                <a:cs typeface="Arial"/>
              </a:defRPr>
            </a:lvl6pPr>
            <a:lvl7pPr algn="l">
              <a:defRPr sz="5700" b="1">
                <a:solidFill>
                  <a:srgbClr val="087D79"/>
                </a:solidFill>
                <a:latin typeface="Arial"/>
                <a:ea typeface="Arial"/>
                <a:cs typeface="Arial"/>
              </a:defRPr>
            </a:lvl7pPr>
            <a:lvl8pPr algn="l">
              <a:defRPr sz="5700" b="1">
                <a:solidFill>
                  <a:srgbClr val="087D79"/>
                </a:solidFill>
                <a:latin typeface="Arial"/>
                <a:ea typeface="Arial"/>
                <a:cs typeface="Arial"/>
              </a:defRPr>
            </a:lvl8pPr>
            <a:lvl9pPr algn="l">
              <a:defRPr sz="5700" b="1">
                <a:solidFill>
                  <a:srgbClr val="087D79"/>
                </a:solidFill>
                <a:latin typeface="Arial"/>
                <a:ea typeface="Arial"/>
                <a:cs typeface="Arial"/>
              </a:defRPr>
            </a:lvl9pPr>
          </a:lstStyle>
          <a:p xmlns:a="http://schemas.openxmlformats.org/drawingml/2006/main">
            <a:pPr algn="l">
              <a:defRPr sz="5700" b="1">
                <a:solidFill>
                  <a:srgbClr val="087D79"/>
                </a:solidFill>
                <a:latin typeface="Arial"/>
                <a:ea typeface="Arial"/>
                <a:cs typeface="Arial"/>
              </a:defRPr>
            </a:pPr>
            <a:r>
              <a:rPr sz="5700" b="1">
                <a:solidFill>
                  <a:srgbClr val="087D79"/>
                </a:solidFill>
                <a:latin typeface="Arial"/>
                <a:ea typeface="Arial"/>
                <a:cs typeface="Arial"/>
              </a:rPr>
              <a:t>200</a:t>
            </a:r>
          </a:p>
        </p:txBody>
      </p:sp>
      <p:sp>
        <p:nvSpPr>
          <p:cNvPr id="4" name="label-0">
            <a:extLst xmlns:a="http://schemas.openxmlformats.org/drawingml/2006/main">
              <a:ext uri="{FF2B5EF4-FFF2-40B4-BE49-F238E27FC236}">
                <a16:creationId xmlns:a16="http://schemas.microsoft.com/office/drawing/2014/main" id="{DA61BDCC-B08D-4D4F-9618-F99FE1B2EA6E}"/>
              </a:ext>
            </a:extLst>
          </p:cNvPr>
          <p:cNvSpPr>
            <a:spLocks xmlns:a="http://schemas.openxmlformats.org/drawingml/2006/main" noGrp="1"/>
          </p:cNvSpPr>
          <p:nvPr/>
        </p:nvSpPr>
        <p:spPr>
          <a:xfrm xmlns:a="http://schemas.openxmlformats.org/drawingml/2006/main">
            <a:off x="685800"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vendeurs</a:t>
            </a:r>
          </a:p>
        </p:txBody>
      </p:sp>
      <p:sp>
        <p:nvSpPr>
          <p:cNvPr id="5" name="chiffre-1">
            <a:extLst xmlns:a="http://schemas.openxmlformats.org/drawingml/2006/main">
              <a:ext uri="{FF2B5EF4-FFF2-40B4-BE49-F238E27FC236}">
                <a16:creationId xmlns:a16="http://schemas.microsoft.com/office/drawing/2014/main" id="{3472201F-0925-4A68-9E23-64852F2B1CDF}"/>
              </a:ext>
            </a:extLst>
          </p:cNvPr>
          <p:cNvSpPr>
            <a:spLocks xmlns:a="http://schemas.openxmlformats.org/drawingml/2006/main" noGrp="1"/>
          </p:cNvSpPr>
          <p:nvPr/>
        </p:nvSpPr>
        <p:spPr>
          <a:xfrm xmlns:a="http://schemas.openxmlformats.org/drawingml/2006/main">
            <a:off x="4429125"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D68B3E"/>
                </a:solidFill>
                <a:latin typeface="Arial"/>
                <a:ea typeface="Arial"/>
                <a:cs typeface="Arial"/>
              </a:defRPr>
            </a:defPPr>
            <a:lvl1pPr algn="l">
              <a:defRPr sz="5700" b="1">
                <a:solidFill>
                  <a:srgbClr val="D68B3E"/>
                </a:solidFill>
                <a:latin typeface="Arial"/>
                <a:ea typeface="Arial"/>
                <a:cs typeface="Arial"/>
              </a:defRPr>
            </a:lvl1pPr>
            <a:lvl2pPr algn="l">
              <a:defRPr sz="5700" b="1">
                <a:solidFill>
                  <a:srgbClr val="D68B3E"/>
                </a:solidFill>
                <a:latin typeface="Arial"/>
                <a:ea typeface="Arial"/>
                <a:cs typeface="Arial"/>
              </a:defRPr>
            </a:lvl2pPr>
            <a:lvl3pPr algn="l">
              <a:defRPr sz="5700" b="1">
                <a:solidFill>
                  <a:srgbClr val="D68B3E"/>
                </a:solidFill>
                <a:latin typeface="Arial"/>
                <a:ea typeface="Arial"/>
                <a:cs typeface="Arial"/>
              </a:defRPr>
            </a:lvl3pPr>
            <a:lvl4pPr algn="l">
              <a:defRPr sz="5700" b="1">
                <a:solidFill>
                  <a:srgbClr val="D68B3E"/>
                </a:solidFill>
                <a:latin typeface="Arial"/>
                <a:ea typeface="Arial"/>
                <a:cs typeface="Arial"/>
              </a:defRPr>
            </a:lvl4pPr>
            <a:lvl5pPr algn="l">
              <a:defRPr sz="5700" b="1">
                <a:solidFill>
                  <a:srgbClr val="D68B3E"/>
                </a:solidFill>
                <a:latin typeface="Arial"/>
                <a:ea typeface="Arial"/>
                <a:cs typeface="Arial"/>
              </a:defRPr>
            </a:lvl5pPr>
            <a:lvl6pPr algn="l">
              <a:defRPr sz="5700" b="1">
                <a:solidFill>
                  <a:srgbClr val="D68B3E"/>
                </a:solidFill>
                <a:latin typeface="Arial"/>
                <a:ea typeface="Arial"/>
                <a:cs typeface="Arial"/>
              </a:defRPr>
            </a:lvl6pPr>
            <a:lvl7pPr algn="l">
              <a:defRPr sz="5700" b="1">
                <a:solidFill>
                  <a:srgbClr val="D68B3E"/>
                </a:solidFill>
                <a:latin typeface="Arial"/>
                <a:ea typeface="Arial"/>
                <a:cs typeface="Arial"/>
              </a:defRPr>
            </a:lvl7pPr>
            <a:lvl8pPr algn="l">
              <a:defRPr sz="5700" b="1">
                <a:solidFill>
                  <a:srgbClr val="D68B3E"/>
                </a:solidFill>
                <a:latin typeface="Arial"/>
                <a:ea typeface="Arial"/>
                <a:cs typeface="Arial"/>
              </a:defRPr>
            </a:lvl8pPr>
            <a:lvl9pPr algn="l">
              <a:defRPr sz="5700" b="1">
                <a:solidFill>
                  <a:srgbClr val="D68B3E"/>
                </a:solidFill>
                <a:latin typeface="Arial"/>
                <a:ea typeface="Arial"/>
                <a:cs typeface="Arial"/>
              </a:defRPr>
            </a:lvl9pPr>
          </a:lstStyle>
          <a:p xmlns:a="http://schemas.openxmlformats.org/drawingml/2006/main">
            <a:pPr algn="l">
              <a:defRPr sz="5700" b="1">
                <a:solidFill>
                  <a:srgbClr val="D68B3E"/>
                </a:solidFill>
                <a:latin typeface="Arial"/>
                <a:ea typeface="Arial"/>
                <a:cs typeface="Arial"/>
              </a:defRPr>
            </a:pPr>
            <a:r>
              <a:rPr sz="5700" b="1">
                <a:solidFill>
                  <a:srgbClr val="D68B3E"/>
                </a:solidFill>
                <a:latin typeface="Arial"/>
                <a:ea typeface="Arial"/>
                <a:cs typeface="Arial"/>
              </a:rPr>
              <a:t>2 000</a:t>
            </a:r>
          </a:p>
        </p:txBody>
      </p:sp>
      <p:sp>
        <p:nvSpPr>
          <p:cNvPr id="6" name="label-1">
            <a:extLst xmlns:a="http://schemas.openxmlformats.org/drawingml/2006/main">
              <a:ext uri="{FF2B5EF4-FFF2-40B4-BE49-F238E27FC236}">
                <a16:creationId xmlns:a16="http://schemas.microsoft.com/office/drawing/2014/main" id="{C1570A1B-59DC-4C42-91A4-0524CF3DA7A3}"/>
              </a:ext>
            </a:extLst>
          </p:cNvPr>
          <p:cNvSpPr>
            <a:spLocks xmlns:a="http://schemas.openxmlformats.org/drawingml/2006/main" noGrp="1"/>
          </p:cNvSpPr>
          <p:nvPr/>
        </p:nvSpPr>
        <p:spPr>
          <a:xfrm xmlns:a="http://schemas.openxmlformats.org/drawingml/2006/main">
            <a:off x="4429125"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produits</a:t>
            </a:r>
          </a:p>
        </p:txBody>
      </p:sp>
      <p:sp>
        <p:nvSpPr>
          <p:cNvPr id="7" name="chiffre-2">
            <a:extLst xmlns:a="http://schemas.openxmlformats.org/drawingml/2006/main">
              <a:ext uri="{FF2B5EF4-FFF2-40B4-BE49-F238E27FC236}">
                <a16:creationId xmlns:a16="http://schemas.microsoft.com/office/drawing/2014/main" id="{DFFDBB71-D2A0-4D46-A40B-A0AD6F6C2D6A}"/>
              </a:ext>
            </a:extLst>
          </p:cNvPr>
          <p:cNvSpPr>
            <a:spLocks xmlns:a="http://schemas.openxmlformats.org/drawingml/2006/main" noGrp="1"/>
          </p:cNvSpPr>
          <p:nvPr/>
        </p:nvSpPr>
        <p:spPr>
          <a:xfrm xmlns:a="http://schemas.openxmlformats.org/drawingml/2006/main">
            <a:off x="8143875" y="1809750"/>
            <a:ext cx="3381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087D79"/>
                </a:solidFill>
                <a:latin typeface="Arial"/>
                <a:ea typeface="Arial"/>
                <a:cs typeface="Arial"/>
              </a:defRPr>
            </a:defPPr>
            <a:lvl1pPr algn="l">
              <a:defRPr sz="5700" b="1">
                <a:solidFill>
                  <a:srgbClr val="087D79"/>
                </a:solidFill>
                <a:latin typeface="Arial"/>
                <a:ea typeface="Arial"/>
                <a:cs typeface="Arial"/>
              </a:defRPr>
            </a:lvl1pPr>
            <a:lvl2pPr algn="l">
              <a:defRPr sz="5700" b="1">
                <a:solidFill>
                  <a:srgbClr val="087D79"/>
                </a:solidFill>
                <a:latin typeface="Arial"/>
                <a:ea typeface="Arial"/>
                <a:cs typeface="Arial"/>
              </a:defRPr>
            </a:lvl2pPr>
            <a:lvl3pPr algn="l">
              <a:defRPr sz="5700" b="1">
                <a:solidFill>
                  <a:srgbClr val="087D79"/>
                </a:solidFill>
                <a:latin typeface="Arial"/>
                <a:ea typeface="Arial"/>
                <a:cs typeface="Arial"/>
              </a:defRPr>
            </a:lvl3pPr>
            <a:lvl4pPr algn="l">
              <a:defRPr sz="5700" b="1">
                <a:solidFill>
                  <a:srgbClr val="087D79"/>
                </a:solidFill>
                <a:latin typeface="Arial"/>
                <a:ea typeface="Arial"/>
                <a:cs typeface="Arial"/>
              </a:defRPr>
            </a:lvl4pPr>
            <a:lvl5pPr algn="l">
              <a:defRPr sz="5700" b="1">
                <a:solidFill>
                  <a:srgbClr val="087D79"/>
                </a:solidFill>
                <a:latin typeface="Arial"/>
                <a:ea typeface="Arial"/>
                <a:cs typeface="Arial"/>
              </a:defRPr>
            </a:lvl5pPr>
            <a:lvl6pPr algn="l">
              <a:defRPr sz="5700" b="1">
                <a:solidFill>
                  <a:srgbClr val="087D79"/>
                </a:solidFill>
                <a:latin typeface="Arial"/>
                <a:ea typeface="Arial"/>
                <a:cs typeface="Arial"/>
              </a:defRPr>
            </a:lvl6pPr>
            <a:lvl7pPr algn="l">
              <a:defRPr sz="5700" b="1">
                <a:solidFill>
                  <a:srgbClr val="087D79"/>
                </a:solidFill>
                <a:latin typeface="Arial"/>
                <a:ea typeface="Arial"/>
                <a:cs typeface="Arial"/>
              </a:defRPr>
            </a:lvl7pPr>
            <a:lvl8pPr algn="l">
              <a:defRPr sz="5700" b="1">
                <a:solidFill>
                  <a:srgbClr val="087D79"/>
                </a:solidFill>
                <a:latin typeface="Arial"/>
                <a:ea typeface="Arial"/>
                <a:cs typeface="Arial"/>
              </a:defRPr>
            </a:lvl8pPr>
            <a:lvl9pPr algn="l">
              <a:defRPr sz="5700" b="1">
                <a:solidFill>
                  <a:srgbClr val="087D79"/>
                </a:solidFill>
                <a:latin typeface="Arial"/>
                <a:ea typeface="Arial"/>
                <a:cs typeface="Arial"/>
              </a:defRPr>
            </a:lvl9pPr>
          </a:lstStyle>
          <a:p xmlns:a="http://schemas.openxmlformats.org/drawingml/2006/main">
            <a:pPr algn="l">
              <a:defRPr sz="5700" b="1">
                <a:solidFill>
                  <a:srgbClr val="087D79"/>
                </a:solidFill>
                <a:latin typeface="Arial"/>
                <a:ea typeface="Arial"/>
                <a:cs typeface="Arial"/>
              </a:defRPr>
            </a:pPr>
            <a:r>
              <a:rPr sz="5700" b="1">
                <a:solidFill>
                  <a:srgbClr val="087D79"/>
                </a:solidFill>
                <a:latin typeface="Arial"/>
                <a:ea typeface="Arial"/>
                <a:cs typeface="Arial"/>
              </a:rPr>
              <a:t>5 000</a:t>
            </a:r>
          </a:p>
        </p:txBody>
      </p:sp>
      <p:sp>
        <p:nvSpPr>
          <p:cNvPr id="8" name="label-2">
            <a:extLst xmlns:a="http://schemas.openxmlformats.org/drawingml/2006/main">
              <a:ext uri="{FF2B5EF4-FFF2-40B4-BE49-F238E27FC236}">
                <a16:creationId xmlns:a16="http://schemas.microsoft.com/office/drawing/2014/main" id="{05A8B90E-0D1C-4647-A702-6FB90B147E45}"/>
              </a:ext>
            </a:extLst>
          </p:cNvPr>
          <p:cNvSpPr>
            <a:spLocks xmlns:a="http://schemas.openxmlformats.org/drawingml/2006/main" noGrp="1"/>
          </p:cNvSpPr>
          <p:nvPr/>
        </p:nvSpPr>
        <p:spPr>
          <a:xfrm xmlns:a="http://schemas.openxmlformats.org/drawingml/2006/main">
            <a:off x="8143875" y="28003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clients</a:t>
            </a:r>
          </a:p>
        </p:txBody>
      </p:sp>
      <p:sp>
        <p:nvSpPr>
          <p:cNvPr id="9" name="coherence">
            <a:extLst xmlns:a="http://schemas.openxmlformats.org/drawingml/2006/main">
              <a:ext uri="{FF2B5EF4-FFF2-40B4-BE49-F238E27FC236}">
                <a16:creationId xmlns:a16="http://schemas.microsoft.com/office/drawing/2014/main" id="{A005A92D-43C5-4CDD-A421-363563C8A5C2}"/>
              </a:ext>
            </a:extLst>
          </p:cNvPr>
          <p:cNvSpPr>
            <a:spLocks xmlns:a="http://schemas.openxmlformats.org/drawingml/2006/main" noGrp="1"/>
          </p:cNvSpPr>
          <p:nvPr/>
        </p:nvSpPr>
        <p:spPr>
          <a:xfrm xmlns:a="http://schemas.openxmlformats.org/drawingml/2006/main">
            <a:off x="685800" y="37528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63348"/>
                </a:solidFill>
                <a:latin typeface="Arial"/>
                <a:ea typeface="Arial"/>
                <a:cs typeface="Arial"/>
              </a:defRPr>
            </a:defPPr>
            <a:lvl1pPr algn="l">
              <a:defRPr sz="2325" b="1">
                <a:solidFill>
                  <a:srgbClr val="163348"/>
                </a:solidFill>
                <a:latin typeface="Arial"/>
                <a:ea typeface="Arial"/>
                <a:cs typeface="Arial"/>
              </a:defRPr>
            </a:lvl1pPr>
            <a:lvl2pPr algn="l">
              <a:defRPr sz="2325" b="1">
                <a:solidFill>
                  <a:srgbClr val="163348"/>
                </a:solidFill>
                <a:latin typeface="Arial"/>
                <a:ea typeface="Arial"/>
                <a:cs typeface="Arial"/>
              </a:defRPr>
            </a:lvl2pPr>
            <a:lvl3pPr algn="l">
              <a:defRPr sz="2325" b="1">
                <a:solidFill>
                  <a:srgbClr val="163348"/>
                </a:solidFill>
                <a:latin typeface="Arial"/>
                <a:ea typeface="Arial"/>
                <a:cs typeface="Arial"/>
              </a:defRPr>
            </a:lvl3pPr>
            <a:lvl4pPr algn="l">
              <a:defRPr sz="2325" b="1">
                <a:solidFill>
                  <a:srgbClr val="163348"/>
                </a:solidFill>
                <a:latin typeface="Arial"/>
                <a:ea typeface="Arial"/>
                <a:cs typeface="Arial"/>
              </a:defRPr>
            </a:lvl4pPr>
            <a:lvl5pPr algn="l">
              <a:defRPr sz="2325" b="1">
                <a:solidFill>
                  <a:srgbClr val="163348"/>
                </a:solidFill>
                <a:latin typeface="Arial"/>
                <a:ea typeface="Arial"/>
                <a:cs typeface="Arial"/>
              </a:defRPr>
            </a:lvl5pPr>
            <a:lvl6pPr algn="l">
              <a:defRPr sz="2325" b="1">
                <a:solidFill>
                  <a:srgbClr val="163348"/>
                </a:solidFill>
                <a:latin typeface="Arial"/>
                <a:ea typeface="Arial"/>
                <a:cs typeface="Arial"/>
              </a:defRPr>
            </a:lvl6pPr>
            <a:lvl7pPr algn="l">
              <a:defRPr sz="2325" b="1">
                <a:solidFill>
                  <a:srgbClr val="163348"/>
                </a:solidFill>
                <a:latin typeface="Arial"/>
                <a:ea typeface="Arial"/>
                <a:cs typeface="Arial"/>
              </a:defRPr>
            </a:lvl7pPr>
            <a:lvl8pPr algn="l">
              <a:defRPr sz="2325" b="1">
                <a:solidFill>
                  <a:srgbClr val="163348"/>
                </a:solidFill>
                <a:latin typeface="Arial"/>
                <a:ea typeface="Arial"/>
                <a:cs typeface="Arial"/>
              </a:defRPr>
            </a:lvl8pPr>
            <a:lvl9pPr algn="l">
              <a:defRPr sz="2325" b="1">
                <a:solidFill>
                  <a:srgbClr val="163348"/>
                </a:solidFill>
                <a:latin typeface="Arial"/>
                <a:ea typeface="Arial"/>
                <a:cs typeface="Arial"/>
              </a:defRPr>
            </a:lvl9pPr>
          </a:lstStyle>
          <a:p xmlns:a="http://schemas.openxmlformats.org/drawingml/2006/main">
            <a:pPr algn="l">
              <a:defRPr sz="2325" b="1">
                <a:solidFill>
                  <a:srgbClr val="163348"/>
                </a:solidFill>
                <a:latin typeface="Arial"/>
                <a:ea typeface="Arial"/>
                <a:cs typeface="Arial"/>
              </a:defRPr>
            </a:pPr>
            <a:r>
              <a:rPr sz="2325" b="1">
                <a:solidFill>
                  <a:srgbClr val="163348"/>
                </a:solidFill>
                <a:latin typeface="Arial"/>
                <a:ea typeface="Arial"/>
                <a:cs typeface="Arial"/>
              </a:rPr>
              <a:t>Chaque commande référence des éléments existants.</a:t>
            </a:r>
          </a:p>
        </p:txBody>
      </p:sp>
      <p:sp>
        <p:nvSpPr>
          <p:cNvPr id="10" name="reproductibilite">
            <a:extLst xmlns:a="http://schemas.openxmlformats.org/drawingml/2006/main">
              <a:ext uri="{FF2B5EF4-FFF2-40B4-BE49-F238E27FC236}">
                <a16:creationId xmlns:a16="http://schemas.microsoft.com/office/drawing/2014/main" id="{5BDCC03E-ADDD-40EB-AAF0-9660F03A9859}"/>
              </a:ext>
            </a:extLst>
          </p:cNvPr>
          <p:cNvSpPr>
            <a:spLocks xmlns:a="http://schemas.openxmlformats.org/drawingml/2006/main" noGrp="1"/>
          </p:cNvSpPr>
          <p:nvPr/>
        </p:nvSpPr>
        <p:spPr>
          <a:xfrm xmlns:a="http://schemas.openxmlformats.org/drawingml/2006/main">
            <a:off x="685800" y="455295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587080"/>
                </a:solidFill>
                <a:latin typeface="Arial"/>
                <a:ea typeface="Arial"/>
                <a:cs typeface="Arial"/>
              </a:defRPr>
            </a:defPPr>
            <a:lvl1pPr algn="l">
              <a:defRPr sz="2175" b="0">
                <a:solidFill>
                  <a:srgbClr val="587080"/>
                </a:solidFill>
                <a:latin typeface="Arial"/>
                <a:ea typeface="Arial"/>
                <a:cs typeface="Arial"/>
              </a:defRPr>
            </a:lvl1pPr>
            <a:lvl2pPr algn="l">
              <a:defRPr sz="2175" b="0">
                <a:solidFill>
                  <a:srgbClr val="587080"/>
                </a:solidFill>
                <a:latin typeface="Arial"/>
                <a:ea typeface="Arial"/>
                <a:cs typeface="Arial"/>
              </a:defRPr>
            </a:lvl2pPr>
            <a:lvl3pPr algn="l">
              <a:defRPr sz="2175" b="0">
                <a:solidFill>
                  <a:srgbClr val="587080"/>
                </a:solidFill>
                <a:latin typeface="Arial"/>
                <a:ea typeface="Arial"/>
                <a:cs typeface="Arial"/>
              </a:defRPr>
            </a:lvl3pPr>
            <a:lvl4pPr algn="l">
              <a:defRPr sz="2175" b="0">
                <a:solidFill>
                  <a:srgbClr val="587080"/>
                </a:solidFill>
                <a:latin typeface="Arial"/>
                <a:ea typeface="Arial"/>
                <a:cs typeface="Arial"/>
              </a:defRPr>
            </a:lvl4pPr>
            <a:lvl5pPr algn="l">
              <a:defRPr sz="2175" b="0">
                <a:solidFill>
                  <a:srgbClr val="587080"/>
                </a:solidFill>
                <a:latin typeface="Arial"/>
                <a:ea typeface="Arial"/>
                <a:cs typeface="Arial"/>
              </a:defRPr>
            </a:lvl5pPr>
            <a:lvl6pPr algn="l">
              <a:defRPr sz="2175" b="0">
                <a:solidFill>
                  <a:srgbClr val="587080"/>
                </a:solidFill>
                <a:latin typeface="Arial"/>
                <a:ea typeface="Arial"/>
                <a:cs typeface="Arial"/>
              </a:defRPr>
            </a:lvl6pPr>
            <a:lvl7pPr algn="l">
              <a:defRPr sz="2175" b="0">
                <a:solidFill>
                  <a:srgbClr val="587080"/>
                </a:solidFill>
                <a:latin typeface="Arial"/>
                <a:ea typeface="Arial"/>
                <a:cs typeface="Arial"/>
              </a:defRPr>
            </a:lvl7pPr>
            <a:lvl8pPr algn="l">
              <a:defRPr sz="2175" b="0">
                <a:solidFill>
                  <a:srgbClr val="587080"/>
                </a:solidFill>
                <a:latin typeface="Arial"/>
                <a:ea typeface="Arial"/>
                <a:cs typeface="Arial"/>
              </a:defRPr>
            </a:lvl8pPr>
            <a:lvl9pPr algn="l">
              <a:defRPr sz="2175" b="0">
                <a:solidFill>
                  <a:srgbClr val="587080"/>
                </a:solidFill>
                <a:latin typeface="Arial"/>
                <a:ea typeface="Arial"/>
                <a:cs typeface="Arial"/>
              </a:defRPr>
            </a:lvl9pPr>
          </a:lstStyle>
          <a:p xmlns:a="http://schemas.openxmlformats.org/drawingml/2006/main">
            <a:pPr algn="l">
              <a:defRPr sz="2175" b="0">
                <a:solidFill>
                  <a:srgbClr val="587080"/>
                </a:solidFill>
                <a:latin typeface="Arial"/>
                <a:ea typeface="Arial"/>
                <a:cs typeface="Arial"/>
              </a:defRPr>
            </a:pPr>
            <a:r>
              <a:rPr sz="2175" b="0">
                <a:solidFill>
                  <a:srgbClr val="587080"/>
                </a:solidFill>
                <a:latin typeface="Arial"/>
                <a:ea typeface="Arial"/>
                <a:cs typeface="Arial"/>
              </a:rPr>
              <a:t>Une graine fixe et une date donnent les mêmes commandes.</a:t>
            </a:r>
          </a:p>
        </p:txBody>
      </p:sp>
      <p:sp>
        <p:nvSpPr>
          <p:cNvPr id="11" name="a-retenir">
            <a:extLst xmlns:a="http://schemas.openxmlformats.org/drawingml/2006/main">
              <a:ext uri="{FF2B5EF4-FFF2-40B4-BE49-F238E27FC236}">
                <a16:creationId xmlns:a16="http://schemas.microsoft.com/office/drawing/2014/main" id="{07557647-ED08-4762-9E68-CE931A8B6991}"/>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985B24"/>
                </a:solidFill>
                <a:latin typeface="Arial"/>
                <a:ea typeface="Arial"/>
                <a:cs typeface="Arial"/>
              </a:defRPr>
            </a:defPPr>
            <a:lvl1pPr algn="l">
              <a:defRPr sz="1800" b="0">
                <a:solidFill>
                  <a:srgbClr val="985B24"/>
                </a:solidFill>
                <a:latin typeface="Arial"/>
                <a:ea typeface="Arial"/>
                <a:cs typeface="Arial"/>
              </a:defRPr>
            </a:lvl1pPr>
            <a:lvl2pPr algn="l">
              <a:defRPr sz="1800" b="0">
                <a:solidFill>
                  <a:srgbClr val="985B24"/>
                </a:solidFill>
                <a:latin typeface="Arial"/>
                <a:ea typeface="Arial"/>
                <a:cs typeface="Arial"/>
              </a:defRPr>
            </a:lvl2pPr>
            <a:lvl3pPr algn="l">
              <a:defRPr sz="1800" b="0">
                <a:solidFill>
                  <a:srgbClr val="985B24"/>
                </a:solidFill>
                <a:latin typeface="Arial"/>
                <a:ea typeface="Arial"/>
                <a:cs typeface="Arial"/>
              </a:defRPr>
            </a:lvl3pPr>
            <a:lvl4pPr algn="l">
              <a:defRPr sz="1800" b="0">
                <a:solidFill>
                  <a:srgbClr val="985B24"/>
                </a:solidFill>
                <a:latin typeface="Arial"/>
                <a:ea typeface="Arial"/>
                <a:cs typeface="Arial"/>
              </a:defRPr>
            </a:lvl4pPr>
            <a:lvl5pPr algn="l">
              <a:defRPr sz="1800" b="0">
                <a:solidFill>
                  <a:srgbClr val="985B24"/>
                </a:solidFill>
                <a:latin typeface="Arial"/>
                <a:ea typeface="Arial"/>
                <a:cs typeface="Arial"/>
              </a:defRPr>
            </a:lvl5pPr>
            <a:lvl6pPr algn="l">
              <a:defRPr sz="1800" b="0">
                <a:solidFill>
                  <a:srgbClr val="985B24"/>
                </a:solidFill>
                <a:latin typeface="Arial"/>
                <a:ea typeface="Arial"/>
                <a:cs typeface="Arial"/>
              </a:defRPr>
            </a:lvl6pPr>
            <a:lvl7pPr algn="l">
              <a:defRPr sz="1800" b="0">
                <a:solidFill>
                  <a:srgbClr val="985B24"/>
                </a:solidFill>
                <a:latin typeface="Arial"/>
                <a:ea typeface="Arial"/>
                <a:cs typeface="Arial"/>
              </a:defRPr>
            </a:lvl7pPr>
            <a:lvl8pPr algn="l">
              <a:defRPr sz="1800" b="0">
                <a:solidFill>
                  <a:srgbClr val="985B24"/>
                </a:solidFill>
                <a:latin typeface="Arial"/>
                <a:ea typeface="Arial"/>
                <a:cs typeface="Arial"/>
              </a:defRPr>
            </a:lvl8pPr>
            <a:lvl9pPr algn="l">
              <a:defRPr sz="1800" b="0">
                <a:solidFill>
                  <a:srgbClr val="985B24"/>
                </a:solidFill>
                <a:latin typeface="Arial"/>
                <a:ea typeface="Arial"/>
                <a:cs typeface="Arial"/>
              </a:defRPr>
            </a:lvl9pPr>
          </a:lstStyle>
          <a:p xmlns:a="http://schemas.openxmlformats.org/drawingml/2006/main">
            <a:pPr algn="l">
              <a:defRPr sz="1800" b="0">
                <a:solidFill>
                  <a:srgbClr val="985B24"/>
                </a:solidFill>
                <a:latin typeface="Arial"/>
                <a:ea typeface="Arial"/>
                <a:cs typeface="Arial"/>
              </a:defRPr>
            </a:pPr>
            <a:r>
              <a:rPr sz="1800" b="0">
                <a:solidFill>
                  <a:srgbClr val="985B24"/>
                </a:solidFill>
                <a:latin typeface="Arial"/>
                <a:ea typeface="Arial"/>
                <a:cs typeface="Arial"/>
              </a:rPr>
              <a:t>Exemple : 2 articles à 25 € = 50 € de commande, soit 6 € de commission.</a:t>
            </a:r>
          </a:p>
        </p:txBody>
      </p:sp>
      <p:sp>
        <p:nvSpPr>
          <p:cNvPr id="12" name="intervenant">
            <a:extLst xmlns:a="http://schemas.openxmlformats.org/drawingml/2006/main">
              <a:ext uri="{FF2B5EF4-FFF2-40B4-BE49-F238E27FC236}">
                <a16:creationId xmlns:a16="http://schemas.microsoft.com/office/drawing/2014/main" id="{3214B235-8A56-4919-9328-B9DEA135DC71}"/>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Medy   1:35</a:t>
            </a:r>
          </a:p>
        </p:txBody>
      </p:sp>
      <p:sp>
        <p:nvSpPr>
          <p:cNvPr id="13" name="numero">
            <a:extLst xmlns:a="http://schemas.openxmlformats.org/drawingml/2006/main">
              <a:ext uri="{FF2B5EF4-FFF2-40B4-BE49-F238E27FC236}">
                <a16:creationId xmlns:a16="http://schemas.microsoft.com/office/drawing/2014/main" id="{777315AA-6B90-471A-9538-774CB82DDCBD}"/>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03 / 09</a:t>
            </a:r>
          </a:p>
        </p:txBody>
      </p:sp>
    </p:spTree>
    <p:extLst>
      <p:ext uri="{BB962C8B-B14F-4D97-AF65-F5344CB8AC3E}">
        <p14:creationId xmlns:p14="http://schemas.microsoft.com/office/powerpoint/2010/main" val="72168703"/>
      </p:ext>
    </p:extLst>
  </p:cSld>
</p:sld>
</file>

<file path=ppt/slides/slide4.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552FCEEA-AAA6-49E8-94F7-412F88E30108}"/>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Bronze, Silver et Gold</a:t>
            </a:r>
          </a:p>
        </p:txBody>
      </p:sp>
      <p:graphicFrame>
        <p:nvGraphicFramePr>
          <p:cNvPr id="3" name="">
            <a:extLst xmlns:a="http://schemas.openxmlformats.org/drawingml/2006/main">
              <a:ext uri="{FF2B5EF4-FFF2-40B4-BE49-F238E27FC236}">
                <a16:creationId xmlns:a16="http://schemas.microsoft.com/office/drawing/2014/main" id="{6AA77232-0976-4794-B045-6D7432DB0137}"/>
              </a:ext>
            </a:extLst>
          </p:cNvPr>
          <p:cNvGraphicFramePr/>
          <p:nvPr/>
        </p:nvGraphicFramePr>
        <p:xfrm>
          <a:off xmlns:a="http://schemas.openxmlformats.org/drawingml/2006/main" x="685800" y="1657350"/>
          <a:ext xmlns:a="http://schemas.openxmlformats.org/drawingml/2006/main" cx="10820400" cy="3505200"/>
        </p:xfrm>
        <a:graphic xmlns:a="http://schemas.openxmlformats.org/drawingml/2006/main">
          <a:graphicData uri="http://schemas.openxmlformats.org/drawingml/2006/table">
            <a:tbl>
              <a:tblPr firstRow="1" firstCol="0" bandRow="0"/>
              <a:tblGrid>
                <a:gridCol w="1809750"/>
                <a:gridCol w="3448050"/>
                <a:gridCol w="5562600"/>
              </a:tblGrid>
              <a:tr h="876300">
                <a:tc>
                  <a:txBody>
                    <a:bodyPr/>
                    <a:lstStyle/>
                    <a:p>
                      <a:r>
                        <a:rPr sz="1800" b="1">
                          <a:solidFill>
                            <a:srgbClr val="FFFFFF"/>
                          </a:solidFill>
                          <a:latin typeface="Arial"/>
                          <a:ea typeface="Arial"/>
                          <a:cs typeface="Arial"/>
                        </a:rPr>
                        <a:t>Couche</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Où ?</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Ce qu’on y garde</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876300">
                <a:tc>
                  <a:txBody>
                    <a:bodyPr/>
                    <a:lstStyle/>
                    <a:p>
                      <a:r>
                        <a:rPr sz="1950" b="1">
                          <a:solidFill>
                            <a:srgbClr val="925A2B"/>
                          </a:solidFill>
                          <a:latin typeface="Arial"/>
                          <a:ea typeface="Arial"/>
                          <a:cs typeface="Arial"/>
                        </a:rPr>
                        <a:t>Bronze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7EADD"/>
                    </a:solidFill>
                  </a:tcPr>
                </a:tc>
                <a:tc>
                  <a:txBody>
                    <a:bodyPr/>
                    <a:lstStyle/>
                    <a:p>
                      <a:r>
                        <a:rPr sz="1875">
                          <a:solidFill>
                            <a:srgbClr val="163348"/>
                          </a:solidFill>
                          <a:latin typeface="Arial"/>
                          <a:ea typeface="Arial"/>
                          <a:cs typeface="Arial"/>
                        </a:rPr>
                        <a:t>MinIO</a:t>
                      </a:r>
                    </a:p>
                  </a:txBody>
                  <a:tcPr marL="91440" marR="91440" marT="45720" marB="45720">
                    <a:lnR w="19050">
                      <a:solidFill>
                        <a:srgbClr val="FFFFFF"/>
                      </a:solidFill>
                      <a:prstDash val="solid"/>
                    </a:lnR>
                    <a:lnB w="19050">
                      <a:solidFill>
                        <a:srgbClr val="FFFFFF"/>
                      </a:solidFill>
                      <a:prstDash val="solid"/>
                    </a:lnB>
                    <a:solidFill>
                      <a:srgbClr val="F7EADD"/>
                    </a:solidFill>
                  </a:tcPr>
                </a:tc>
                <a:tc>
                  <a:txBody>
                    <a:bodyPr/>
                    <a:lstStyle/>
                    <a:p>
                      <a:r>
                        <a:rPr sz="1875">
                          <a:solidFill>
                            <a:srgbClr val="163348"/>
                          </a:solidFill>
                          <a:latin typeface="Arial"/>
                          <a:ea typeface="Arial"/>
                          <a:cs typeface="Arial"/>
                        </a:rPr>
                        <a:t>Les fichiers JSON bruts</a:t>
                      </a:r>
                    </a:p>
                  </a:txBody>
                  <a:tcPr marL="91440" marR="91440" marT="45720" marB="45720">
                    <a:lnR w="19050">
                      <a:solidFill>
                        <a:srgbClr val="FFFFFF"/>
                      </a:solidFill>
                      <a:prstDash val="solid"/>
                    </a:lnR>
                    <a:lnB w="19050">
                      <a:solidFill>
                        <a:srgbClr val="FFFFFF"/>
                      </a:solidFill>
                      <a:prstDash val="solid"/>
                    </a:lnB>
                    <a:solidFill>
                      <a:srgbClr val="F7EADD"/>
                    </a:solidFill>
                  </a:tcPr>
                </a:tc>
              </a:tr>
              <a:tr h="876300">
                <a:tc>
                  <a:txBody>
                    <a:bodyPr/>
                    <a:lstStyle/>
                    <a:p>
                      <a:r>
                        <a:rPr sz="1950" b="1">
                          <a:solidFill>
                            <a:srgbClr val="566B7D"/>
                          </a:solidFill>
                          <a:latin typeface="Arial"/>
                          <a:ea typeface="Arial"/>
                          <a:cs typeface="Arial"/>
                        </a:rPr>
                        <a:t>Silver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8EEF4"/>
                    </a:solidFill>
                  </a:tcPr>
                </a:tc>
                <a:tc>
                  <a:txBody>
                    <a:bodyPr/>
                    <a:lstStyle/>
                    <a:p>
                      <a:r>
                        <a:rPr sz="1875">
                          <a:solidFill>
                            <a:srgbClr val="163348"/>
                          </a:solidFill>
                          <a:latin typeface="Arial"/>
                          <a:ea typeface="Arial"/>
                          <a:cs typeface="Arial"/>
                        </a:rPr>
                        <a:t>PostgreSQL</a:t>
                      </a:r>
                    </a:p>
                    <a:p>
                      <a:r>
                        <a:rPr sz="1875">
                          <a:solidFill>
                            <a:srgbClr val="163348"/>
                          </a:solidFill>
                          <a:latin typeface="Arial"/>
                          <a:ea typeface="Arial"/>
                          <a:cs typeface="Arial"/>
                        </a:rPr>
                        <a:t>staging et dwh</a:t>
                      </a:r>
                    </a:p>
                  </a:txBody>
                  <a:tcPr marL="91440" marR="91440" marT="45720" marB="45720">
                    <a:lnR w="19050">
                      <a:solidFill>
                        <a:srgbClr val="FFFFFF"/>
                      </a:solidFill>
                      <a:prstDash val="solid"/>
                    </a:lnR>
                    <a:lnB w="19050">
                      <a:solidFill>
                        <a:srgbClr val="FFFFFF"/>
                      </a:solidFill>
                      <a:prstDash val="solid"/>
                    </a:lnB>
                    <a:solidFill>
                      <a:srgbClr val="E8EEF4"/>
                    </a:solidFill>
                  </a:tcPr>
                </a:tc>
                <a:tc>
                  <a:txBody>
                    <a:bodyPr/>
                    <a:lstStyle/>
                    <a:p>
                      <a:r>
                        <a:rPr sz="1875">
                          <a:solidFill>
                            <a:srgbClr val="163348"/>
                          </a:solidFill>
                          <a:latin typeface="Arial"/>
                          <a:ea typeface="Arial"/>
                          <a:cs typeface="Arial"/>
                        </a:rPr>
                        <a:t>Les données typées et organisées</a:t>
                      </a:r>
                    </a:p>
                  </a:txBody>
                  <a:tcPr marL="91440" marR="91440" marT="45720" marB="45720">
                    <a:lnR w="19050">
                      <a:solidFill>
                        <a:srgbClr val="FFFFFF"/>
                      </a:solidFill>
                      <a:prstDash val="solid"/>
                    </a:lnR>
                    <a:lnB w="19050">
                      <a:solidFill>
                        <a:srgbClr val="FFFFFF"/>
                      </a:solidFill>
                      <a:prstDash val="solid"/>
                    </a:lnB>
                    <a:solidFill>
                      <a:srgbClr val="E8EEF4"/>
                    </a:solidFill>
                  </a:tcPr>
                </a:tc>
              </a:tr>
              <a:tr h="876300">
                <a:tc>
                  <a:txBody>
                    <a:bodyPr/>
                    <a:lstStyle/>
                    <a:p>
                      <a:r>
                        <a:rPr sz="1950" b="1">
                          <a:solidFill>
                            <a:srgbClr val="866310"/>
                          </a:solidFill>
                          <a:latin typeface="Arial"/>
                          <a:ea typeface="Arial"/>
                          <a:cs typeface="Arial"/>
                        </a:rPr>
                        <a:t>Gold</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CF0CB"/>
                    </a:solidFill>
                  </a:tcPr>
                </a:tc>
                <a:tc>
                  <a:txBody>
                    <a:bodyPr/>
                    <a:lstStyle/>
                    <a:p>
                      <a:r>
                        <a:rPr sz="1875">
                          <a:solidFill>
                            <a:srgbClr val="163348"/>
                          </a:solidFill>
                          <a:latin typeface="Arial"/>
                          <a:ea typeface="Arial"/>
                          <a:cs typeface="Arial"/>
                        </a:rPr>
                        <a:t>PostgreSQL</a:t>
                      </a:r>
                    </a:p>
                    <a:p>
                      <a:r>
                        <a:rPr sz="1875">
                          <a:solidFill>
                            <a:srgbClr val="163348"/>
                          </a:solidFill>
                          <a:latin typeface="Arial"/>
                          <a:ea typeface="Arial"/>
                          <a:cs typeface="Arial"/>
                        </a:rPr>
                        <a:t>analytics</a:t>
                      </a:r>
                    </a:p>
                  </a:txBody>
                  <a:tcPr marL="91440" marR="91440" marT="45720" marB="45720">
                    <a:lnR w="19050">
                      <a:solidFill>
                        <a:srgbClr val="FFFFFF"/>
                      </a:solidFill>
                      <a:prstDash val="solid"/>
                    </a:lnR>
                    <a:lnB w="19050">
                      <a:solidFill>
                        <a:srgbClr val="FFFFFF"/>
                      </a:solidFill>
                      <a:prstDash val="solid"/>
                    </a:lnB>
                    <a:solidFill>
                      <a:srgbClr val="FCF0CB"/>
                    </a:solidFill>
                  </a:tcPr>
                </a:tc>
                <a:tc>
                  <a:txBody>
                    <a:bodyPr/>
                    <a:lstStyle/>
                    <a:p>
                      <a:r>
                        <a:rPr sz="1875">
                          <a:solidFill>
                            <a:srgbClr val="163348"/>
                          </a:solidFill>
                          <a:latin typeface="Arial"/>
                          <a:ea typeface="Arial"/>
                          <a:cs typeface="Arial"/>
                        </a:rPr>
                        <a:t>Les indicateurs pour Metabase</a:t>
                      </a:r>
                    </a:p>
                  </a:txBody>
                  <a:tcPr marL="91440" marR="91440" marT="45720" marB="45720">
                    <a:lnR w="19050">
                      <a:solidFill>
                        <a:srgbClr val="FFFFFF"/>
                      </a:solidFill>
                      <a:prstDash val="solid"/>
                    </a:lnR>
                    <a:lnB w="19050">
                      <a:solidFill>
                        <a:srgbClr val="FFFFFF"/>
                      </a:solidFill>
                      <a:prstDash val="solid"/>
                    </a:lnB>
                    <a:solidFill>
                      <a:srgbClr val="FCF0CB"/>
                    </a:solidFill>
                  </a:tcPr>
                </a:tc>
              </a:tr>
            </a:tbl>
          </a:graphicData>
        </a:graphic>
      </p:graphicFrame>
      <p:sp>
        <p:nvSpPr>
          <p:cNvPr id="4" name="a-retenir">
            <a:extLst xmlns:a="http://schemas.openxmlformats.org/drawingml/2006/main">
              <a:ext uri="{FF2B5EF4-FFF2-40B4-BE49-F238E27FC236}">
                <a16:creationId xmlns:a16="http://schemas.microsoft.com/office/drawing/2014/main" id="{AC1E9677-0468-43B6-8484-E048EC343580}"/>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buckets MinIO silver et gold existent, mais restent vides dans cette version.</a:t>
            </a:r>
          </a:p>
        </p:txBody>
      </p:sp>
      <p:sp>
        <p:nvSpPr>
          <p:cNvPr id="5" name="intervenant">
            <a:extLst xmlns:a="http://schemas.openxmlformats.org/drawingml/2006/main">
              <a:ext uri="{FF2B5EF4-FFF2-40B4-BE49-F238E27FC236}">
                <a16:creationId xmlns:a16="http://schemas.microsoft.com/office/drawing/2014/main" id="{7E7C1231-A5FE-4C9D-A642-004F779AF841}"/>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Rayan   1:30</a:t>
            </a:r>
          </a:p>
        </p:txBody>
      </p:sp>
      <p:sp>
        <p:nvSpPr>
          <p:cNvPr id="6" name="numero">
            <a:extLst xmlns:a="http://schemas.openxmlformats.org/drawingml/2006/main">
              <a:ext uri="{FF2B5EF4-FFF2-40B4-BE49-F238E27FC236}">
                <a16:creationId xmlns:a16="http://schemas.microsoft.com/office/drawing/2014/main" id="{72378F57-CD71-4591-AA6F-0A637503770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04 / 09</a:t>
            </a:r>
          </a:p>
        </p:txBody>
      </p:sp>
    </p:spTree>
    <p:extLst>
      <p:ext uri="{BB962C8B-B14F-4D97-AF65-F5344CB8AC3E}">
        <p14:creationId xmlns:p14="http://schemas.microsoft.com/office/powerpoint/2010/main" val="1857090726"/>
      </p:ext>
    </p:extLst>
  </p:cSld>
</p:sld>
</file>

<file path=ppt/slides/slide5.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69D1CBDC-6B03-463A-9D5D-FE9DBFDEE839}"/>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Les tables dans PostgreSQL</a:t>
            </a:r>
          </a:p>
        </p:txBody>
      </p:sp>
      <p:sp>
        <p:nvSpPr>
          <p:cNvPr id="3" name="faits-label">
            <a:extLst xmlns:a="http://schemas.openxmlformats.org/drawingml/2006/main">
              <a:ext uri="{FF2B5EF4-FFF2-40B4-BE49-F238E27FC236}">
                <a16:creationId xmlns:a16="http://schemas.microsoft.com/office/drawing/2014/main" id="{38218F8F-B728-4593-9FBD-CB6B745827A3}"/>
              </a:ext>
            </a:extLst>
          </p:cNvPr>
          <p:cNvSpPr>
            <a:spLocks xmlns:a="http://schemas.openxmlformats.org/drawingml/2006/main" noGrp="1"/>
          </p:cNvSpPr>
          <p:nvPr/>
        </p:nvSpPr>
        <p:spPr>
          <a:xfrm xmlns:a="http://schemas.openxmlformats.org/drawingml/2006/main">
            <a:off x="685800" y="20002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87D79"/>
                </a:solidFill>
                <a:latin typeface="Arial"/>
                <a:ea typeface="Arial"/>
                <a:cs typeface="Arial"/>
              </a:defRPr>
            </a:defPPr>
            <a:lvl1pPr algn="l">
              <a:defRPr sz="1650" b="1">
                <a:solidFill>
                  <a:srgbClr val="087D79"/>
                </a:solidFill>
                <a:latin typeface="Arial"/>
                <a:ea typeface="Arial"/>
                <a:cs typeface="Arial"/>
              </a:defRPr>
            </a:lvl1pPr>
            <a:lvl2pPr algn="l">
              <a:defRPr sz="1650" b="1">
                <a:solidFill>
                  <a:srgbClr val="087D79"/>
                </a:solidFill>
                <a:latin typeface="Arial"/>
                <a:ea typeface="Arial"/>
                <a:cs typeface="Arial"/>
              </a:defRPr>
            </a:lvl2pPr>
            <a:lvl3pPr algn="l">
              <a:defRPr sz="1650" b="1">
                <a:solidFill>
                  <a:srgbClr val="087D79"/>
                </a:solidFill>
                <a:latin typeface="Arial"/>
                <a:ea typeface="Arial"/>
                <a:cs typeface="Arial"/>
              </a:defRPr>
            </a:lvl3pPr>
            <a:lvl4pPr algn="l">
              <a:defRPr sz="1650" b="1">
                <a:solidFill>
                  <a:srgbClr val="087D79"/>
                </a:solidFill>
                <a:latin typeface="Arial"/>
                <a:ea typeface="Arial"/>
                <a:cs typeface="Arial"/>
              </a:defRPr>
            </a:lvl4pPr>
            <a:lvl5pPr algn="l">
              <a:defRPr sz="1650" b="1">
                <a:solidFill>
                  <a:srgbClr val="087D79"/>
                </a:solidFill>
                <a:latin typeface="Arial"/>
                <a:ea typeface="Arial"/>
                <a:cs typeface="Arial"/>
              </a:defRPr>
            </a:lvl5pPr>
            <a:lvl6pPr algn="l">
              <a:defRPr sz="1650" b="1">
                <a:solidFill>
                  <a:srgbClr val="087D79"/>
                </a:solidFill>
                <a:latin typeface="Arial"/>
                <a:ea typeface="Arial"/>
                <a:cs typeface="Arial"/>
              </a:defRPr>
            </a:lvl6pPr>
            <a:lvl7pPr algn="l">
              <a:defRPr sz="1650" b="1">
                <a:solidFill>
                  <a:srgbClr val="087D79"/>
                </a:solidFill>
                <a:latin typeface="Arial"/>
                <a:ea typeface="Arial"/>
                <a:cs typeface="Arial"/>
              </a:defRPr>
            </a:lvl7pPr>
            <a:lvl8pPr algn="l">
              <a:defRPr sz="1650" b="1">
                <a:solidFill>
                  <a:srgbClr val="087D79"/>
                </a:solidFill>
                <a:latin typeface="Arial"/>
                <a:ea typeface="Arial"/>
                <a:cs typeface="Arial"/>
              </a:defRPr>
            </a:lvl8pPr>
            <a:lvl9pPr algn="l">
              <a:defRPr sz="1650" b="1">
                <a:solidFill>
                  <a:srgbClr val="087D79"/>
                </a:solidFill>
                <a:latin typeface="Arial"/>
                <a:ea typeface="Arial"/>
                <a:cs typeface="Arial"/>
              </a:defRPr>
            </a:lvl9pPr>
          </a:lstStyle>
          <a:p xmlns:a="http://schemas.openxmlformats.org/drawingml/2006/main">
            <a:pPr algn="l">
              <a:defRPr sz="1650" b="1">
                <a:solidFill>
                  <a:srgbClr val="087D79"/>
                </a:solidFill>
                <a:latin typeface="Arial"/>
                <a:ea typeface="Arial"/>
                <a:cs typeface="Arial"/>
              </a:defRPr>
            </a:pPr>
            <a:r>
              <a:rPr sz="1650" b="1">
                <a:solidFill>
                  <a:srgbClr val="087D79"/>
                </a:solidFill>
                <a:latin typeface="Arial"/>
                <a:ea typeface="Arial"/>
                <a:cs typeface="Arial"/>
              </a:rPr>
              <a:t>LES COMMANDES</a:t>
            </a:r>
          </a:p>
        </p:txBody>
      </p:sp>
      <p:sp>
        <p:nvSpPr>
          <p:cNvPr id="4" name="table-faits">
            <a:extLst xmlns:a="http://schemas.openxmlformats.org/drawingml/2006/main">
              <a:ext uri="{FF2B5EF4-FFF2-40B4-BE49-F238E27FC236}">
                <a16:creationId xmlns:a16="http://schemas.microsoft.com/office/drawing/2014/main" id="{E7505DD6-2E12-4855-8C6A-6982FB13F4FF}"/>
              </a:ext>
            </a:extLst>
          </p:cNvPr>
          <p:cNvSpPr>
            <a:spLocks xmlns:a="http://schemas.openxmlformats.org/drawingml/2006/main" noGrp="1"/>
          </p:cNvSpPr>
          <p:nvPr/>
        </p:nvSpPr>
        <p:spPr>
          <a:xfrm xmlns:a="http://schemas.openxmlformats.org/drawingml/2006/main">
            <a:off x="685800" y="2514600"/>
            <a:ext cx="3952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75" b="1">
                <a:solidFill>
                  <a:srgbClr val="163348"/>
                </a:solidFill>
                <a:latin typeface="Arial"/>
                <a:ea typeface="Arial"/>
                <a:cs typeface="Arial"/>
              </a:defRPr>
            </a:defPPr>
            <a:lvl1pPr algn="l">
              <a:defRPr sz="3375" b="1">
                <a:solidFill>
                  <a:srgbClr val="163348"/>
                </a:solidFill>
                <a:latin typeface="Arial"/>
                <a:ea typeface="Arial"/>
                <a:cs typeface="Arial"/>
              </a:defRPr>
            </a:lvl1pPr>
            <a:lvl2pPr algn="l">
              <a:defRPr sz="3375" b="1">
                <a:solidFill>
                  <a:srgbClr val="163348"/>
                </a:solidFill>
                <a:latin typeface="Arial"/>
                <a:ea typeface="Arial"/>
                <a:cs typeface="Arial"/>
              </a:defRPr>
            </a:lvl2pPr>
            <a:lvl3pPr algn="l">
              <a:defRPr sz="3375" b="1">
                <a:solidFill>
                  <a:srgbClr val="163348"/>
                </a:solidFill>
                <a:latin typeface="Arial"/>
                <a:ea typeface="Arial"/>
                <a:cs typeface="Arial"/>
              </a:defRPr>
            </a:lvl3pPr>
            <a:lvl4pPr algn="l">
              <a:defRPr sz="3375" b="1">
                <a:solidFill>
                  <a:srgbClr val="163348"/>
                </a:solidFill>
                <a:latin typeface="Arial"/>
                <a:ea typeface="Arial"/>
                <a:cs typeface="Arial"/>
              </a:defRPr>
            </a:lvl4pPr>
            <a:lvl5pPr algn="l">
              <a:defRPr sz="3375" b="1">
                <a:solidFill>
                  <a:srgbClr val="163348"/>
                </a:solidFill>
                <a:latin typeface="Arial"/>
                <a:ea typeface="Arial"/>
                <a:cs typeface="Arial"/>
              </a:defRPr>
            </a:lvl5pPr>
            <a:lvl6pPr algn="l">
              <a:defRPr sz="3375" b="1">
                <a:solidFill>
                  <a:srgbClr val="163348"/>
                </a:solidFill>
                <a:latin typeface="Arial"/>
                <a:ea typeface="Arial"/>
                <a:cs typeface="Arial"/>
              </a:defRPr>
            </a:lvl6pPr>
            <a:lvl7pPr algn="l">
              <a:defRPr sz="3375" b="1">
                <a:solidFill>
                  <a:srgbClr val="163348"/>
                </a:solidFill>
                <a:latin typeface="Arial"/>
                <a:ea typeface="Arial"/>
                <a:cs typeface="Arial"/>
              </a:defRPr>
            </a:lvl7pPr>
            <a:lvl8pPr algn="l">
              <a:defRPr sz="3375" b="1">
                <a:solidFill>
                  <a:srgbClr val="163348"/>
                </a:solidFill>
                <a:latin typeface="Arial"/>
                <a:ea typeface="Arial"/>
                <a:cs typeface="Arial"/>
              </a:defRPr>
            </a:lvl8pPr>
            <a:lvl9pPr algn="l">
              <a:defRPr sz="3375" b="1">
                <a:solidFill>
                  <a:srgbClr val="163348"/>
                </a:solidFill>
                <a:latin typeface="Arial"/>
                <a:ea typeface="Arial"/>
                <a:cs typeface="Arial"/>
              </a:defRPr>
            </a:lvl9pPr>
          </a:lstStyle>
          <a:p xmlns:a="http://schemas.openxmlformats.org/drawingml/2006/main">
            <a:pPr algn="l">
              <a:defRPr sz="3375" b="1">
                <a:solidFill>
                  <a:srgbClr val="163348"/>
                </a:solidFill>
                <a:latin typeface="Arial"/>
                <a:ea typeface="Arial"/>
                <a:cs typeface="Arial"/>
              </a:defRPr>
            </a:pPr>
            <a:r>
              <a:rPr sz="3375" b="1">
                <a:solidFill>
                  <a:srgbClr val="163348"/>
                </a:solidFill>
                <a:latin typeface="Arial"/>
                <a:ea typeface="Arial"/>
                <a:cs typeface="Arial"/>
              </a:rPr>
              <a:t>fact_orders</a:t>
            </a:r>
          </a:p>
        </p:txBody>
      </p:sp>
      <p:sp>
        <p:nvSpPr>
          <p:cNvPr id="5" name="grain">
            <a:extLst xmlns:a="http://schemas.openxmlformats.org/drawingml/2006/main">
              <a:ext uri="{FF2B5EF4-FFF2-40B4-BE49-F238E27FC236}">
                <a16:creationId xmlns:a16="http://schemas.microsoft.com/office/drawing/2014/main" id="{DFFAE549-00CE-404B-A276-29A38530859E}"/>
              </a:ext>
            </a:extLst>
          </p:cNvPr>
          <p:cNvSpPr>
            <a:spLocks xmlns:a="http://schemas.openxmlformats.org/drawingml/2006/main" noGrp="1"/>
          </p:cNvSpPr>
          <p:nvPr/>
        </p:nvSpPr>
        <p:spPr>
          <a:xfrm xmlns:a="http://schemas.openxmlformats.org/drawingml/2006/main">
            <a:off x="685800" y="330517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63348"/>
                </a:solidFill>
                <a:latin typeface="Arial"/>
                <a:ea typeface="Arial"/>
                <a:cs typeface="Arial"/>
              </a:defRPr>
            </a:defPPr>
            <a:lvl1pPr algn="l">
              <a:defRPr sz="2550" b="1">
                <a:solidFill>
                  <a:srgbClr val="163348"/>
                </a:solidFill>
                <a:latin typeface="Arial"/>
                <a:ea typeface="Arial"/>
                <a:cs typeface="Arial"/>
              </a:defRPr>
            </a:lvl1pPr>
            <a:lvl2pPr algn="l">
              <a:defRPr sz="2550" b="1">
                <a:solidFill>
                  <a:srgbClr val="163348"/>
                </a:solidFill>
                <a:latin typeface="Arial"/>
                <a:ea typeface="Arial"/>
                <a:cs typeface="Arial"/>
              </a:defRPr>
            </a:lvl2pPr>
            <a:lvl3pPr algn="l">
              <a:defRPr sz="2550" b="1">
                <a:solidFill>
                  <a:srgbClr val="163348"/>
                </a:solidFill>
                <a:latin typeface="Arial"/>
                <a:ea typeface="Arial"/>
                <a:cs typeface="Arial"/>
              </a:defRPr>
            </a:lvl3pPr>
            <a:lvl4pPr algn="l">
              <a:defRPr sz="2550" b="1">
                <a:solidFill>
                  <a:srgbClr val="163348"/>
                </a:solidFill>
                <a:latin typeface="Arial"/>
                <a:ea typeface="Arial"/>
                <a:cs typeface="Arial"/>
              </a:defRPr>
            </a:lvl4pPr>
            <a:lvl5pPr algn="l">
              <a:defRPr sz="2550" b="1">
                <a:solidFill>
                  <a:srgbClr val="163348"/>
                </a:solidFill>
                <a:latin typeface="Arial"/>
                <a:ea typeface="Arial"/>
                <a:cs typeface="Arial"/>
              </a:defRPr>
            </a:lvl5pPr>
            <a:lvl6pPr algn="l">
              <a:defRPr sz="2550" b="1">
                <a:solidFill>
                  <a:srgbClr val="163348"/>
                </a:solidFill>
                <a:latin typeface="Arial"/>
                <a:ea typeface="Arial"/>
                <a:cs typeface="Arial"/>
              </a:defRPr>
            </a:lvl6pPr>
            <a:lvl7pPr algn="l">
              <a:defRPr sz="2550" b="1">
                <a:solidFill>
                  <a:srgbClr val="163348"/>
                </a:solidFill>
                <a:latin typeface="Arial"/>
                <a:ea typeface="Arial"/>
                <a:cs typeface="Arial"/>
              </a:defRPr>
            </a:lvl7pPr>
            <a:lvl8pPr algn="l">
              <a:defRPr sz="2550" b="1">
                <a:solidFill>
                  <a:srgbClr val="163348"/>
                </a:solidFill>
                <a:latin typeface="Arial"/>
                <a:ea typeface="Arial"/>
                <a:cs typeface="Arial"/>
              </a:defRPr>
            </a:lvl8pPr>
            <a:lvl9pPr algn="l">
              <a:defRPr sz="2550" b="1">
                <a:solidFill>
                  <a:srgbClr val="163348"/>
                </a:solidFill>
                <a:latin typeface="Arial"/>
                <a:ea typeface="Arial"/>
                <a:cs typeface="Arial"/>
              </a:defRPr>
            </a:lvl9pPr>
          </a:lstStyle>
          <a:p xmlns:a="http://schemas.openxmlformats.org/drawingml/2006/main">
            <a:pPr algn="l">
              <a:defRPr sz="2550" b="1">
                <a:solidFill>
                  <a:srgbClr val="163348"/>
                </a:solidFill>
                <a:latin typeface="Arial"/>
                <a:ea typeface="Arial"/>
                <a:cs typeface="Arial"/>
              </a:defRPr>
            </a:pPr>
            <a:r>
              <a:rPr sz="2550" b="1">
                <a:solidFill>
                  <a:srgbClr val="163348"/>
                </a:solidFill>
                <a:latin typeface="Arial"/>
                <a:ea typeface="Arial"/>
                <a:cs typeface="Arial"/>
              </a:rPr>
              <a:t>Une ligne</a:t>
            </a:r>
          </a:p>
          <a:p xmlns:a="http://schemas.openxmlformats.org/drawingml/2006/main">
            <a:pPr algn="l">
              <a:defRPr sz="2550" b="1">
                <a:solidFill>
                  <a:srgbClr val="163348"/>
                </a:solidFill>
                <a:latin typeface="Arial"/>
                <a:ea typeface="Arial"/>
                <a:cs typeface="Arial"/>
              </a:defRPr>
            </a:pPr>
            <a:r>
              <a:rPr sz="2550" b="1">
                <a:solidFill>
                  <a:srgbClr val="163348"/>
                </a:solidFill>
                <a:latin typeface="Arial"/>
                <a:ea typeface="Arial"/>
                <a:cs typeface="Arial"/>
              </a:rPr>
              <a:t>par commande</a:t>
            </a:r>
          </a:p>
        </p:txBody>
      </p:sp>
      <p:sp>
        <p:nvSpPr>
          <p:cNvPr id="6" name="mesures">
            <a:extLst xmlns:a="http://schemas.openxmlformats.org/drawingml/2006/main">
              <a:ext uri="{FF2B5EF4-FFF2-40B4-BE49-F238E27FC236}">
                <a16:creationId xmlns:a16="http://schemas.microsoft.com/office/drawing/2014/main" id="{D242026E-211E-4828-B407-B8FACEA58BDC}"/>
              </a:ext>
            </a:extLst>
          </p:cNvPr>
          <p:cNvSpPr>
            <a:spLocks xmlns:a="http://schemas.openxmlformats.org/drawingml/2006/main" noGrp="1"/>
          </p:cNvSpPr>
          <p:nvPr/>
        </p:nvSpPr>
        <p:spPr>
          <a:xfrm xmlns:a="http://schemas.openxmlformats.org/drawingml/2006/main">
            <a:off x="685800" y="4419600"/>
            <a:ext cx="3905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87080"/>
                </a:solidFill>
                <a:latin typeface="Arial"/>
                <a:ea typeface="Arial"/>
                <a:cs typeface="Arial"/>
              </a:defRPr>
            </a:defPPr>
            <a:lvl1pPr algn="l">
              <a:defRPr sz="2025" b="0">
                <a:solidFill>
                  <a:srgbClr val="587080"/>
                </a:solidFill>
                <a:latin typeface="Arial"/>
                <a:ea typeface="Arial"/>
                <a:cs typeface="Arial"/>
              </a:defRPr>
            </a:lvl1pPr>
            <a:lvl2pPr algn="l">
              <a:defRPr sz="2025" b="0">
                <a:solidFill>
                  <a:srgbClr val="587080"/>
                </a:solidFill>
                <a:latin typeface="Arial"/>
                <a:ea typeface="Arial"/>
                <a:cs typeface="Arial"/>
              </a:defRPr>
            </a:lvl2pPr>
            <a:lvl3pPr algn="l">
              <a:defRPr sz="2025" b="0">
                <a:solidFill>
                  <a:srgbClr val="587080"/>
                </a:solidFill>
                <a:latin typeface="Arial"/>
                <a:ea typeface="Arial"/>
                <a:cs typeface="Arial"/>
              </a:defRPr>
            </a:lvl3pPr>
            <a:lvl4pPr algn="l">
              <a:defRPr sz="2025" b="0">
                <a:solidFill>
                  <a:srgbClr val="587080"/>
                </a:solidFill>
                <a:latin typeface="Arial"/>
                <a:ea typeface="Arial"/>
                <a:cs typeface="Arial"/>
              </a:defRPr>
            </a:lvl4pPr>
            <a:lvl5pPr algn="l">
              <a:defRPr sz="2025" b="0">
                <a:solidFill>
                  <a:srgbClr val="587080"/>
                </a:solidFill>
                <a:latin typeface="Arial"/>
                <a:ea typeface="Arial"/>
                <a:cs typeface="Arial"/>
              </a:defRPr>
            </a:lvl5pPr>
            <a:lvl6pPr algn="l">
              <a:defRPr sz="2025" b="0">
                <a:solidFill>
                  <a:srgbClr val="587080"/>
                </a:solidFill>
                <a:latin typeface="Arial"/>
                <a:ea typeface="Arial"/>
                <a:cs typeface="Arial"/>
              </a:defRPr>
            </a:lvl6pPr>
            <a:lvl7pPr algn="l">
              <a:defRPr sz="2025" b="0">
                <a:solidFill>
                  <a:srgbClr val="587080"/>
                </a:solidFill>
                <a:latin typeface="Arial"/>
                <a:ea typeface="Arial"/>
                <a:cs typeface="Arial"/>
              </a:defRPr>
            </a:lvl7pPr>
            <a:lvl8pPr algn="l">
              <a:defRPr sz="2025" b="0">
                <a:solidFill>
                  <a:srgbClr val="587080"/>
                </a:solidFill>
                <a:latin typeface="Arial"/>
                <a:ea typeface="Arial"/>
                <a:cs typeface="Arial"/>
              </a:defRPr>
            </a:lvl8pPr>
            <a:lvl9pPr algn="l">
              <a:defRPr sz="2025" b="0">
                <a:solidFill>
                  <a:srgbClr val="587080"/>
                </a:solidFill>
                <a:latin typeface="Arial"/>
                <a:ea typeface="Arial"/>
                <a:cs typeface="Arial"/>
              </a:defRPr>
            </a:lvl9pPr>
          </a:lstStyle>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Montants, quantités</a:t>
            </a:r>
          </a:p>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et statuts</a:t>
            </a:r>
          </a:p>
        </p:txBody>
      </p:sp>
      <p:graphicFrame>
        <p:nvGraphicFramePr>
          <p:cNvPr id="7" name="">
            <a:extLst xmlns:a="http://schemas.openxmlformats.org/drawingml/2006/main">
              <a:ext uri="{FF2B5EF4-FFF2-40B4-BE49-F238E27FC236}">
                <a16:creationId xmlns:a16="http://schemas.microsoft.com/office/drawing/2014/main" id="{3257436C-979F-480A-9E95-CA2CFCA8D3C6}"/>
              </a:ext>
            </a:extLst>
          </p:cNvPr>
          <p:cNvGraphicFramePr/>
          <p:nvPr/>
        </p:nvGraphicFramePr>
        <p:xfrm>
          <a:off xmlns:a="http://schemas.openxmlformats.org/drawingml/2006/main" x="5048250" y="1933575"/>
          <a:ext xmlns:a="http://schemas.openxmlformats.org/drawingml/2006/main" cx="6457950" cy="3286125"/>
        </p:xfrm>
        <a:graphic xmlns:a="http://schemas.openxmlformats.org/drawingml/2006/main">
          <a:graphicData uri="http://schemas.openxmlformats.org/drawingml/2006/table">
            <a:tbl>
              <a:tblPr firstRow="1" firstCol="0" bandRow="0"/>
              <a:tblGrid>
                <a:gridCol w="2667000"/>
                <a:gridCol w="3790950"/>
              </a:tblGrid>
              <a:tr h="657225">
                <a:tc>
                  <a:txBody>
                    <a:bodyPr/>
                    <a:lstStyle/>
                    <a:p>
                      <a:r>
                        <a:rPr sz="1800" b="1">
                          <a:solidFill>
                            <a:srgbClr val="FFFFFF"/>
                          </a:solidFill>
                          <a:latin typeface="Arial"/>
                          <a:ea typeface="Arial"/>
                          <a:cs typeface="Arial"/>
                        </a:rPr>
                        <a:t>Dimensions</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800" b="1">
                          <a:solidFill>
                            <a:srgbClr val="FFFFFF"/>
                          </a:solidFill>
                          <a:latin typeface="Arial"/>
                          <a:ea typeface="Arial"/>
                          <a:cs typeface="Arial"/>
                        </a:rPr>
                        <a:t>Ce qu’elles décrivent</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657225">
                <a:tc>
                  <a:txBody>
                    <a:bodyPr/>
                    <a:lstStyle/>
                    <a:p>
                      <a:r>
                        <a:rPr sz="1950" b="1">
                          <a:solidFill>
                            <a:srgbClr val="087D79"/>
                          </a:solidFill>
                          <a:latin typeface="Arial"/>
                          <a:ea typeface="Arial"/>
                          <a:cs typeface="Arial"/>
                        </a:rPr>
                        <a:t>dim_seller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Le vendeur</a:t>
                      </a:r>
                    </a:p>
                  </a:txBody>
                  <a:tcPr marL="91440" marR="91440" marT="45720" marB="45720">
                    <a:lnR w="19050">
                      <a:solidFill>
                        <a:srgbClr val="FFFFFF"/>
                      </a:solidFill>
                      <a:prstDash val="solid"/>
                    </a:lnR>
                    <a:lnB w="19050">
                      <a:solidFill>
                        <a:srgbClr val="FFFFFF"/>
                      </a:solidFill>
                      <a:prstDash val="solid"/>
                    </a:lnB>
                    <a:solidFill>
                      <a:srgbClr val="FFFFFF"/>
                    </a:solidFill>
                  </a:tcPr>
                </a:tc>
              </a:tr>
              <a:tr h="657225">
                <a:tc>
                  <a:txBody>
                    <a:bodyPr/>
                    <a:lstStyle/>
                    <a:p>
                      <a:r>
                        <a:rPr sz="1950" b="1">
                          <a:solidFill>
                            <a:srgbClr val="087D79"/>
                          </a:solidFill>
                          <a:latin typeface="Arial"/>
                          <a:ea typeface="Arial"/>
                          <a:cs typeface="Arial"/>
                        </a:rPr>
                        <a:t>dim_product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Le produit</a:t>
                      </a:r>
                    </a:p>
                  </a:txBody>
                  <a:tcPr marL="91440" marR="91440" marT="45720" marB="45720">
                    <a:lnR w="19050">
                      <a:solidFill>
                        <a:srgbClr val="FFFFFF"/>
                      </a:solidFill>
                      <a:prstDash val="solid"/>
                    </a:lnR>
                    <a:lnB w="19050">
                      <a:solidFill>
                        <a:srgbClr val="FFFFFF"/>
                      </a:solidFill>
                      <a:prstDash val="solid"/>
                    </a:lnB>
                    <a:solidFill>
                      <a:srgbClr val="EAF0F5"/>
                    </a:solidFill>
                  </a:tcPr>
                </a:tc>
              </a:tr>
              <a:tr h="657225">
                <a:tc>
                  <a:txBody>
                    <a:bodyPr/>
                    <a:lstStyle/>
                    <a:p>
                      <a:r>
                        <a:rPr sz="1950" b="1">
                          <a:solidFill>
                            <a:srgbClr val="087D79"/>
                          </a:solidFill>
                          <a:latin typeface="Arial"/>
                          <a:ea typeface="Arial"/>
                          <a:cs typeface="Arial"/>
                        </a:rPr>
                        <a:t>dim_customer</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875">
                          <a:solidFill>
                            <a:srgbClr val="163348"/>
                          </a:solidFill>
                          <a:latin typeface="Arial"/>
                          <a:ea typeface="Arial"/>
                          <a:cs typeface="Arial"/>
                        </a:rPr>
                        <a:t>Le client</a:t>
                      </a:r>
                    </a:p>
                  </a:txBody>
                  <a:tcPr marL="91440" marR="91440" marT="45720" marB="45720">
                    <a:lnR w="19050">
                      <a:solidFill>
                        <a:srgbClr val="FFFFFF"/>
                      </a:solidFill>
                      <a:prstDash val="solid"/>
                    </a:lnR>
                    <a:lnB w="19050">
                      <a:solidFill>
                        <a:srgbClr val="FFFFFF"/>
                      </a:solidFill>
                      <a:prstDash val="solid"/>
                    </a:lnB>
                    <a:solidFill>
                      <a:srgbClr val="FFFFFF"/>
                    </a:solidFill>
                  </a:tcPr>
                </a:tc>
              </a:tr>
              <a:tr h="657225">
                <a:tc>
                  <a:txBody>
                    <a:bodyPr/>
                    <a:lstStyle/>
                    <a:p>
                      <a:r>
                        <a:rPr sz="1950" b="1">
                          <a:solidFill>
                            <a:srgbClr val="087D79"/>
                          </a:solidFill>
                          <a:latin typeface="Arial"/>
                          <a:ea typeface="Arial"/>
                          <a:cs typeface="Arial"/>
                        </a:rPr>
                        <a:t>dim_date</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875">
                          <a:solidFill>
                            <a:srgbClr val="163348"/>
                          </a:solidFill>
                          <a:latin typeface="Arial"/>
                          <a:ea typeface="Arial"/>
                          <a:cs typeface="Arial"/>
                        </a:rPr>
                        <a:t>La date</a:t>
                      </a:r>
                    </a:p>
                  </a:txBody>
                  <a:tcPr marL="91440" marR="91440" marT="45720" marB="45720">
                    <a:lnR w="19050">
                      <a:solidFill>
                        <a:srgbClr val="FFFFFF"/>
                      </a:solidFill>
                      <a:prstDash val="solid"/>
                    </a:lnR>
                    <a:lnB w="19050">
                      <a:solidFill>
                        <a:srgbClr val="FFFFFF"/>
                      </a:solidFill>
                      <a:prstDash val="solid"/>
                    </a:lnB>
                    <a:solidFill>
                      <a:srgbClr val="EAF0F5"/>
                    </a:solidFill>
                  </a:tcPr>
                </a:tc>
              </a:tr>
            </a:tbl>
          </a:graphicData>
        </a:graphic>
      </p:graphicFrame>
      <p:sp>
        <p:nvSpPr>
          <p:cNvPr id="8" name="a-retenir">
            <a:extLst xmlns:a="http://schemas.openxmlformats.org/drawingml/2006/main">
              <a:ext uri="{FF2B5EF4-FFF2-40B4-BE49-F238E27FC236}">
                <a16:creationId xmlns:a16="http://schemas.microsoft.com/office/drawing/2014/main" id="{9BDDB41F-B0BB-4FE8-9D59-69D20692C634}"/>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identifiants relient les commandes aux quatre dimensions.</a:t>
            </a:r>
          </a:p>
        </p:txBody>
      </p:sp>
      <p:sp>
        <p:nvSpPr>
          <p:cNvPr id="9" name="intervenant">
            <a:extLst xmlns:a="http://schemas.openxmlformats.org/drawingml/2006/main">
              <a:ext uri="{FF2B5EF4-FFF2-40B4-BE49-F238E27FC236}">
                <a16:creationId xmlns:a16="http://schemas.microsoft.com/office/drawing/2014/main" id="{02102BAE-7E78-4182-83FE-0F00535624AB}"/>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Rayan   1:20</a:t>
            </a:r>
          </a:p>
        </p:txBody>
      </p:sp>
      <p:sp>
        <p:nvSpPr>
          <p:cNvPr id="10" name="numero">
            <a:extLst xmlns:a="http://schemas.openxmlformats.org/drawingml/2006/main">
              <a:ext uri="{FF2B5EF4-FFF2-40B4-BE49-F238E27FC236}">
                <a16:creationId xmlns:a16="http://schemas.microsoft.com/office/drawing/2014/main" id="{B3E5283F-069F-4768-B919-F4F8FD916999}"/>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05 / 09</a:t>
            </a:r>
          </a:p>
        </p:txBody>
      </p:sp>
    </p:spTree>
    <p:extLst>
      <p:ext uri="{BB962C8B-B14F-4D97-AF65-F5344CB8AC3E}">
        <p14:creationId xmlns:p14="http://schemas.microsoft.com/office/powerpoint/2010/main" val="1392916339"/>
      </p:ext>
    </p:extLst>
  </p:cSld>
</p:sld>
</file>

<file path=ppt/slides/slide6.xml><?xml version="1.0" encoding="utf-8"?>
<p:sld xmlns:p="http://schemas.openxmlformats.org/presentationml/2006/main">
  <p:cSld>
    <p:bg>
      <p:bgPr>
        <a:solidFill xmlns:a="http://schemas.openxmlformats.org/drawingml/2006/main">
          <a:srgbClr val="102B3D"/>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60C89192-01EA-4FE8-849C-667E0E9D938E}"/>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Les relances sans doublons</a:t>
            </a:r>
          </a:p>
        </p:txBody>
      </p:sp>
      <p:sp>
        <p:nvSpPr>
          <p:cNvPr id="3" name="etape-numero-0">
            <a:extLst xmlns:a="http://schemas.openxmlformats.org/drawingml/2006/main">
              <a:ext uri="{FF2B5EF4-FFF2-40B4-BE49-F238E27FC236}">
                <a16:creationId xmlns:a16="http://schemas.microsoft.com/office/drawing/2014/main" id="{DF232CFB-D536-4A78-ACBC-649FF2E0A4A0}"/>
              </a:ext>
            </a:extLst>
          </p:cNvPr>
          <p:cNvSpPr>
            <a:spLocks xmlns:a="http://schemas.openxmlformats.org/drawingml/2006/main" noGrp="1"/>
          </p:cNvSpPr>
          <p:nvPr/>
        </p:nvSpPr>
        <p:spPr>
          <a:xfrm xmlns:a="http://schemas.openxmlformats.org/drawingml/2006/main">
            <a:off x="685800" y="1819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01</a:t>
            </a:r>
          </a:p>
        </p:txBody>
      </p:sp>
      <p:sp>
        <p:nvSpPr>
          <p:cNvPr id="4" name="etape-0">
            <a:extLst xmlns:a="http://schemas.openxmlformats.org/drawingml/2006/main">
              <a:ext uri="{FF2B5EF4-FFF2-40B4-BE49-F238E27FC236}">
                <a16:creationId xmlns:a16="http://schemas.microsoft.com/office/drawing/2014/main" id="{61F8FD2E-54D0-4C4A-837E-03467C47EE49}"/>
              </a:ext>
            </a:extLst>
          </p:cNvPr>
          <p:cNvSpPr>
            <a:spLocks xmlns:a="http://schemas.openxmlformats.org/drawingml/2006/main" noGrp="1"/>
          </p:cNvSpPr>
          <p:nvPr/>
        </p:nvSpPr>
        <p:spPr>
          <a:xfrm xmlns:a="http://schemas.openxmlformats.org/drawingml/2006/main">
            <a:off x="2286000" y="1838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Supprimer les anciennes lignes de la date choisie</a:t>
            </a:r>
          </a:p>
        </p:txBody>
      </p:sp>
      <p:sp>
        <p:nvSpPr>
          <p:cNvPr id="5" name="etape-numero-1">
            <a:extLst xmlns:a="http://schemas.openxmlformats.org/drawingml/2006/main">
              <a:ext uri="{FF2B5EF4-FFF2-40B4-BE49-F238E27FC236}">
                <a16:creationId xmlns:a16="http://schemas.microsoft.com/office/drawing/2014/main" id="{A970A284-88CB-4DE6-8A19-6CD5BAC3CD53}"/>
              </a:ext>
            </a:extLst>
          </p:cNvPr>
          <p:cNvSpPr>
            <a:spLocks xmlns:a="http://schemas.openxmlformats.org/drawingml/2006/main" noGrp="1"/>
          </p:cNvSpPr>
          <p:nvPr/>
        </p:nvSpPr>
        <p:spPr>
          <a:xfrm xmlns:a="http://schemas.openxmlformats.org/drawingml/2006/main">
            <a:off x="685800" y="2962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02</a:t>
            </a:r>
          </a:p>
        </p:txBody>
      </p:sp>
      <p:sp>
        <p:nvSpPr>
          <p:cNvPr id="6" name="etape-1">
            <a:extLst xmlns:a="http://schemas.openxmlformats.org/drawingml/2006/main">
              <a:ext uri="{FF2B5EF4-FFF2-40B4-BE49-F238E27FC236}">
                <a16:creationId xmlns:a16="http://schemas.microsoft.com/office/drawing/2014/main" id="{088A26EC-19DB-47DC-B397-A753260A0FFC}"/>
              </a:ext>
            </a:extLst>
          </p:cNvPr>
          <p:cNvSpPr>
            <a:spLocks xmlns:a="http://schemas.openxmlformats.org/drawingml/2006/main" noGrp="1"/>
          </p:cNvSpPr>
          <p:nvPr/>
        </p:nvSpPr>
        <p:spPr>
          <a:xfrm xmlns:a="http://schemas.openxmlformats.org/drawingml/2006/main">
            <a:off x="2286000" y="2981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Réinsérer les données de cette même date</a:t>
            </a:r>
          </a:p>
        </p:txBody>
      </p:sp>
      <p:sp>
        <p:nvSpPr>
          <p:cNvPr id="7" name="etape-numero-2">
            <a:extLst xmlns:a="http://schemas.openxmlformats.org/drawingml/2006/main">
              <a:ext uri="{FF2B5EF4-FFF2-40B4-BE49-F238E27FC236}">
                <a16:creationId xmlns:a16="http://schemas.microsoft.com/office/drawing/2014/main" id="{BF324C2F-8C07-416D-ABB2-612066269676}"/>
              </a:ext>
            </a:extLst>
          </p:cNvPr>
          <p:cNvSpPr>
            <a:spLocks xmlns:a="http://schemas.openxmlformats.org/drawingml/2006/main" noGrp="1"/>
          </p:cNvSpPr>
          <p:nvPr/>
        </p:nvSpPr>
        <p:spPr>
          <a:xfrm xmlns:a="http://schemas.openxmlformats.org/drawingml/2006/main">
            <a:off x="685800" y="41052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325" b="1">
                <a:solidFill>
                  <a:srgbClr val="7DE1CE"/>
                </a:solidFill>
                <a:latin typeface="Arial"/>
                <a:ea typeface="Arial"/>
                <a:cs typeface="Arial"/>
              </a:defRPr>
            </a:defPPr>
            <a:lvl1pPr algn="l">
              <a:defRPr sz="5325" b="1">
                <a:solidFill>
                  <a:srgbClr val="7DE1CE"/>
                </a:solidFill>
                <a:latin typeface="Arial"/>
                <a:ea typeface="Arial"/>
                <a:cs typeface="Arial"/>
              </a:defRPr>
            </a:lvl1pPr>
            <a:lvl2pPr algn="l">
              <a:defRPr sz="5325" b="1">
                <a:solidFill>
                  <a:srgbClr val="7DE1CE"/>
                </a:solidFill>
                <a:latin typeface="Arial"/>
                <a:ea typeface="Arial"/>
                <a:cs typeface="Arial"/>
              </a:defRPr>
            </a:lvl2pPr>
            <a:lvl3pPr algn="l">
              <a:defRPr sz="5325" b="1">
                <a:solidFill>
                  <a:srgbClr val="7DE1CE"/>
                </a:solidFill>
                <a:latin typeface="Arial"/>
                <a:ea typeface="Arial"/>
                <a:cs typeface="Arial"/>
              </a:defRPr>
            </a:lvl3pPr>
            <a:lvl4pPr algn="l">
              <a:defRPr sz="5325" b="1">
                <a:solidFill>
                  <a:srgbClr val="7DE1CE"/>
                </a:solidFill>
                <a:latin typeface="Arial"/>
                <a:ea typeface="Arial"/>
                <a:cs typeface="Arial"/>
              </a:defRPr>
            </a:lvl4pPr>
            <a:lvl5pPr algn="l">
              <a:defRPr sz="5325" b="1">
                <a:solidFill>
                  <a:srgbClr val="7DE1CE"/>
                </a:solidFill>
                <a:latin typeface="Arial"/>
                <a:ea typeface="Arial"/>
                <a:cs typeface="Arial"/>
              </a:defRPr>
            </a:lvl5pPr>
            <a:lvl6pPr algn="l">
              <a:defRPr sz="5325" b="1">
                <a:solidFill>
                  <a:srgbClr val="7DE1CE"/>
                </a:solidFill>
                <a:latin typeface="Arial"/>
                <a:ea typeface="Arial"/>
                <a:cs typeface="Arial"/>
              </a:defRPr>
            </a:lvl6pPr>
            <a:lvl7pPr algn="l">
              <a:defRPr sz="5325" b="1">
                <a:solidFill>
                  <a:srgbClr val="7DE1CE"/>
                </a:solidFill>
                <a:latin typeface="Arial"/>
                <a:ea typeface="Arial"/>
                <a:cs typeface="Arial"/>
              </a:defRPr>
            </a:lvl7pPr>
            <a:lvl8pPr algn="l">
              <a:defRPr sz="5325" b="1">
                <a:solidFill>
                  <a:srgbClr val="7DE1CE"/>
                </a:solidFill>
                <a:latin typeface="Arial"/>
                <a:ea typeface="Arial"/>
                <a:cs typeface="Arial"/>
              </a:defRPr>
            </a:lvl8pPr>
            <a:lvl9pPr algn="l">
              <a:defRPr sz="5325" b="1">
                <a:solidFill>
                  <a:srgbClr val="7DE1CE"/>
                </a:solidFill>
                <a:latin typeface="Arial"/>
                <a:ea typeface="Arial"/>
                <a:cs typeface="Arial"/>
              </a:defRPr>
            </a:lvl9pPr>
          </a:lstStyle>
          <a:p xmlns:a="http://schemas.openxmlformats.org/drawingml/2006/main">
            <a:pPr algn="l">
              <a:defRPr sz="5325" b="1">
                <a:solidFill>
                  <a:srgbClr val="7DE1CE"/>
                </a:solidFill>
                <a:latin typeface="Arial"/>
                <a:ea typeface="Arial"/>
                <a:cs typeface="Arial"/>
              </a:defRPr>
            </a:pPr>
            <a:r>
              <a:rPr sz="5325" b="1">
                <a:solidFill>
                  <a:srgbClr val="7DE1CE"/>
                </a:solidFill>
                <a:latin typeface="Arial"/>
                <a:ea typeface="Arial"/>
                <a:cs typeface="Arial"/>
              </a:rPr>
              <a:t>03</a:t>
            </a:r>
          </a:p>
        </p:txBody>
      </p:sp>
      <p:sp>
        <p:nvSpPr>
          <p:cNvPr id="8" name="etape-2">
            <a:extLst xmlns:a="http://schemas.openxmlformats.org/drawingml/2006/main">
              <a:ext uri="{FF2B5EF4-FFF2-40B4-BE49-F238E27FC236}">
                <a16:creationId xmlns:a16="http://schemas.microsoft.com/office/drawing/2014/main" id="{853BBC56-E9E4-4B04-B338-C1BD0763E7AE}"/>
              </a:ext>
            </a:extLst>
          </p:cNvPr>
          <p:cNvSpPr>
            <a:spLocks xmlns:a="http://schemas.openxmlformats.org/drawingml/2006/main" noGrp="1"/>
          </p:cNvSpPr>
          <p:nvPr/>
        </p:nvSpPr>
        <p:spPr>
          <a:xfrm xmlns:a="http://schemas.openxmlformats.org/drawingml/2006/main">
            <a:off x="2286000" y="4124325"/>
            <a:ext cx="92202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0">
                <a:solidFill>
                  <a:srgbClr val="FFFFFF"/>
                </a:solidFill>
                <a:latin typeface="Arial"/>
                <a:ea typeface="Arial"/>
                <a:cs typeface="Arial"/>
              </a:defRPr>
            </a:defPPr>
            <a:lvl1pPr algn="l">
              <a:defRPr sz="2475" b="0">
                <a:solidFill>
                  <a:srgbClr val="FFFFFF"/>
                </a:solidFill>
                <a:latin typeface="Arial"/>
                <a:ea typeface="Arial"/>
                <a:cs typeface="Arial"/>
              </a:defRPr>
            </a:lvl1pPr>
            <a:lvl2pPr algn="l">
              <a:defRPr sz="2475" b="0">
                <a:solidFill>
                  <a:srgbClr val="FFFFFF"/>
                </a:solidFill>
                <a:latin typeface="Arial"/>
                <a:ea typeface="Arial"/>
                <a:cs typeface="Arial"/>
              </a:defRPr>
            </a:lvl2pPr>
            <a:lvl3pPr algn="l">
              <a:defRPr sz="2475" b="0">
                <a:solidFill>
                  <a:srgbClr val="FFFFFF"/>
                </a:solidFill>
                <a:latin typeface="Arial"/>
                <a:ea typeface="Arial"/>
                <a:cs typeface="Arial"/>
              </a:defRPr>
            </a:lvl3pPr>
            <a:lvl4pPr algn="l">
              <a:defRPr sz="2475" b="0">
                <a:solidFill>
                  <a:srgbClr val="FFFFFF"/>
                </a:solidFill>
                <a:latin typeface="Arial"/>
                <a:ea typeface="Arial"/>
                <a:cs typeface="Arial"/>
              </a:defRPr>
            </a:lvl4pPr>
            <a:lvl5pPr algn="l">
              <a:defRPr sz="2475" b="0">
                <a:solidFill>
                  <a:srgbClr val="FFFFFF"/>
                </a:solidFill>
                <a:latin typeface="Arial"/>
                <a:ea typeface="Arial"/>
                <a:cs typeface="Arial"/>
              </a:defRPr>
            </a:lvl5pPr>
            <a:lvl6pPr algn="l">
              <a:defRPr sz="2475" b="0">
                <a:solidFill>
                  <a:srgbClr val="FFFFFF"/>
                </a:solidFill>
                <a:latin typeface="Arial"/>
                <a:ea typeface="Arial"/>
                <a:cs typeface="Arial"/>
              </a:defRPr>
            </a:lvl6pPr>
            <a:lvl7pPr algn="l">
              <a:defRPr sz="2475" b="0">
                <a:solidFill>
                  <a:srgbClr val="FFFFFF"/>
                </a:solidFill>
                <a:latin typeface="Arial"/>
                <a:ea typeface="Arial"/>
                <a:cs typeface="Arial"/>
              </a:defRPr>
            </a:lvl7pPr>
            <a:lvl8pPr algn="l">
              <a:defRPr sz="2475" b="0">
                <a:solidFill>
                  <a:srgbClr val="FFFFFF"/>
                </a:solidFill>
                <a:latin typeface="Arial"/>
                <a:ea typeface="Arial"/>
                <a:cs typeface="Arial"/>
              </a:defRPr>
            </a:lvl8pPr>
            <a:lvl9pPr algn="l">
              <a:defRPr sz="2475" b="0">
                <a:solidFill>
                  <a:srgbClr val="FFFFFF"/>
                </a:solidFill>
                <a:latin typeface="Arial"/>
                <a:ea typeface="Arial"/>
                <a:cs typeface="Arial"/>
              </a:defRPr>
            </a:lvl9pPr>
          </a:lstStyle>
          <a:p xmlns:a="http://schemas.openxmlformats.org/drawingml/2006/main">
            <a:pPr algn="l">
              <a:defRPr sz="2475" b="0">
                <a:solidFill>
                  <a:srgbClr val="FFFFFF"/>
                </a:solidFill>
                <a:latin typeface="Arial"/>
                <a:ea typeface="Arial"/>
                <a:cs typeface="Arial"/>
              </a:defRPr>
            </a:pPr>
            <a:r>
              <a:rPr sz="2475" b="0">
                <a:solidFill>
                  <a:srgbClr val="FFFFFF"/>
                </a:solidFill>
                <a:latin typeface="Arial"/>
                <a:ea typeface="Arial"/>
                <a:cs typeface="Arial"/>
              </a:rPr>
              <a:t>Valider les deux opérations dans une transaction</a:t>
            </a:r>
          </a:p>
        </p:txBody>
      </p:sp>
      <p:sp>
        <p:nvSpPr>
          <p:cNvPr id="9" name="a-retenir">
            <a:extLst xmlns:a="http://schemas.openxmlformats.org/drawingml/2006/main">
              <a:ext uri="{FF2B5EF4-FFF2-40B4-BE49-F238E27FC236}">
                <a16:creationId xmlns:a16="http://schemas.microsoft.com/office/drawing/2014/main" id="{38384FFB-6A5C-4532-8807-480F82767F98}"/>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7DE1CE"/>
                </a:solidFill>
                <a:latin typeface="Arial"/>
                <a:ea typeface="Arial"/>
                <a:cs typeface="Arial"/>
              </a:defRPr>
            </a:defPPr>
            <a:lvl1pPr algn="l">
              <a:defRPr sz="1800" b="0">
                <a:solidFill>
                  <a:srgbClr val="7DE1CE"/>
                </a:solidFill>
                <a:latin typeface="Arial"/>
                <a:ea typeface="Arial"/>
                <a:cs typeface="Arial"/>
              </a:defRPr>
            </a:lvl1pPr>
            <a:lvl2pPr algn="l">
              <a:defRPr sz="1800" b="0">
                <a:solidFill>
                  <a:srgbClr val="7DE1CE"/>
                </a:solidFill>
                <a:latin typeface="Arial"/>
                <a:ea typeface="Arial"/>
                <a:cs typeface="Arial"/>
              </a:defRPr>
            </a:lvl2pPr>
            <a:lvl3pPr algn="l">
              <a:defRPr sz="1800" b="0">
                <a:solidFill>
                  <a:srgbClr val="7DE1CE"/>
                </a:solidFill>
                <a:latin typeface="Arial"/>
                <a:ea typeface="Arial"/>
                <a:cs typeface="Arial"/>
              </a:defRPr>
            </a:lvl3pPr>
            <a:lvl4pPr algn="l">
              <a:defRPr sz="1800" b="0">
                <a:solidFill>
                  <a:srgbClr val="7DE1CE"/>
                </a:solidFill>
                <a:latin typeface="Arial"/>
                <a:ea typeface="Arial"/>
                <a:cs typeface="Arial"/>
              </a:defRPr>
            </a:lvl4pPr>
            <a:lvl5pPr algn="l">
              <a:defRPr sz="1800" b="0">
                <a:solidFill>
                  <a:srgbClr val="7DE1CE"/>
                </a:solidFill>
                <a:latin typeface="Arial"/>
                <a:ea typeface="Arial"/>
                <a:cs typeface="Arial"/>
              </a:defRPr>
            </a:lvl5pPr>
            <a:lvl6pPr algn="l">
              <a:defRPr sz="1800" b="0">
                <a:solidFill>
                  <a:srgbClr val="7DE1CE"/>
                </a:solidFill>
                <a:latin typeface="Arial"/>
                <a:ea typeface="Arial"/>
                <a:cs typeface="Arial"/>
              </a:defRPr>
            </a:lvl6pPr>
            <a:lvl7pPr algn="l">
              <a:defRPr sz="1800" b="0">
                <a:solidFill>
                  <a:srgbClr val="7DE1CE"/>
                </a:solidFill>
                <a:latin typeface="Arial"/>
                <a:ea typeface="Arial"/>
                <a:cs typeface="Arial"/>
              </a:defRPr>
            </a:lvl7pPr>
            <a:lvl8pPr algn="l">
              <a:defRPr sz="1800" b="0">
                <a:solidFill>
                  <a:srgbClr val="7DE1CE"/>
                </a:solidFill>
                <a:latin typeface="Arial"/>
                <a:ea typeface="Arial"/>
                <a:cs typeface="Arial"/>
              </a:defRPr>
            </a:lvl8pPr>
            <a:lvl9pPr algn="l">
              <a:defRPr sz="1800" b="0">
                <a:solidFill>
                  <a:srgbClr val="7DE1CE"/>
                </a:solidFill>
                <a:latin typeface="Arial"/>
                <a:ea typeface="Arial"/>
                <a:cs typeface="Arial"/>
              </a:defRPr>
            </a:lvl9pPr>
          </a:lstStyle>
          <a:p xmlns:a="http://schemas.openxmlformats.org/drawingml/2006/main">
            <a:pPr algn="l">
              <a:defRPr sz="1800" b="0">
                <a:solidFill>
                  <a:srgbClr val="7DE1CE"/>
                </a:solidFill>
                <a:latin typeface="Arial"/>
                <a:ea typeface="Arial"/>
                <a:cs typeface="Arial"/>
              </a:defRPr>
            </a:pPr>
            <a:r>
              <a:rPr sz="1800" b="0">
                <a:solidFill>
                  <a:srgbClr val="7DE1CE"/>
                </a:solidFill>
                <a:latin typeface="Arial"/>
                <a:ea typeface="Arial"/>
                <a:cs typeface="Arial"/>
              </a:rPr>
              <a:t>Idempotence : rejouer une date conserve le même résultat métier.</a:t>
            </a:r>
          </a:p>
        </p:txBody>
      </p:sp>
      <p:sp>
        <p:nvSpPr>
          <p:cNvPr id="10" name="intervenant">
            <a:extLst xmlns:a="http://schemas.openxmlformats.org/drawingml/2006/main">
              <a:ext uri="{FF2B5EF4-FFF2-40B4-BE49-F238E27FC236}">
                <a16:creationId xmlns:a16="http://schemas.microsoft.com/office/drawing/2014/main" id="{C44112BA-B1B0-4267-9F70-927565C26A34}"/>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A9C3CF"/>
                </a:solidFill>
                <a:latin typeface="Arial"/>
                <a:ea typeface="Arial"/>
                <a:cs typeface="Arial"/>
              </a:defRPr>
            </a:defPPr>
            <a:lvl1pPr algn="l">
              <a:defRPr sz="1350" b="1">
                <a:solidFill>
                  <a:srgbClr val="A9C3CF"/>
                </a:solidFill>
                <a:latin typeface="Arial"/>
                <a:ea typeface="Arial"/>
                <a:cs typeface="Arial"/>
              </a:defRPr>
            </a:lvl1pPr>
            <a:lvl2pPr algn="l">
              <a:defRPr sz="1350" b="1">
                <a:solidFill>
                  <a:srgbClr val="A9C3CF"/>
                </a:solidFill>
                <a:latin typeface="Arial"/>
                <a:ea typeface="Arial"/>
                <a:cs typeface="Arial"/>
              </a:defRPr>
            </a:lvl2pPr>
            <a:lvl3pPr algn="l">
              <a:defRPr sz="1350" b="1">
                <a:solidFill>
                  <a:srgbClr val="A9C3CF"/>
                </a:solidFill>
                <a:latin typeface="Arial"/>
                <a:ea typeface="Arial"/>
                <a:cs typeface="Arial"/>
              </a:defRPr>
            </a:lvl3pPr>
            <a:lvl4pPr algn="l">
              <a:defRPr sz="1350" b="1">
                <a:solidFill>
                  <a:srgbClr val="A9C3CF"/>
                </a:solidFill>
                <a:latin typeface="Arial"/>
                <a:ea typeface="Arial"/>
                <a:cs typeface="Arial"/>
              </a:defRPr>
            </a:lvl4pPr>
            <a:lvl5pPr algn="l">
              <a:defRPr sz="1350" b="1">
                <a:solidFill>
                  <a:srgbClr val="A9C3CF"/>
                </a:solidFill>
                <a:latin typeface="Arial"/>
                <a:ea typeface="Arial"/>
                <a:cs typeface="Arial"/>
              </a:defRPr>
            </a:lvl5pPr>
            <a:lvl6pPr algn="l">
              <a:defRPr sz="1350" b="1">
                <a:solidFill>
                  <a:srgbClr val="A9C3CF"/>
                </a:solidFill>
                <a:latin typeface="Arial"/>
                <a:ea typeface="Arial"/>
                <a:cs typeface="Arial"/>
              </a:defRPr>
            </a:lvl6pPr>
            <a:lvl7pPr algn="l">
              <a:defRPr sz="1350" b="1">
                <a:solidFill>
                  <a:srgbClr val="A9C3CF"/>
                </a:solidFill>
                <a:latin typeface="Arial"/>
                <a:ea typeface="Arial"/>
                <a:cs typeface="Arial"/>
              </a:defRPr>
            </a:lvl7pPr>
            <a:lvl8pPr algn="l">
              <a:defRPr sz="1350" b="1">
                <a:solidFill>
                  <a:srgbClr val="A9C3CF"/>
                </a:solidFill>
                <a:latin typeface="Arial"/>
                <a:ea typeface="Arial"/>
                <a:cs typeface="Arial"/>
              </a:defRPr>
            </a:lvl8pPr>
            <a:lvl9pPr algn="l">
              <a:defRPr sz="1350" b="1">
                <a:solidFill>
                  <a:srgbClr val="A9C3CF"/>
                </a:solidFill>
                <a:latin typeface="Arial"/>
                <a:ea typeface="Arial"/>
                <a:cs typeface="Arial"/>
              </a:defRPr>
            </a:lvl9pPr>
          </a:lstStyle>
          <a:p xmlns:a="http://schemas.openxmlformats.org/drawingml/2006/main">
            <a:pPr algn="l">
              <a:defRPr sz="1350" b="1">
                <a:solidFill>
                  <a:srgbClr val="A9C3CF"/>
                </a:solidFill>
                <a:latin typeface="Arial"/>
                <a:ea typeface="Arial"/>
                <a:cs typeface="Arial"/>
              </a:defRPr>
            </a:pPr>
            <a:r>
              <a:rPr sz="1350" b="1">
                <a:solidFill>
                  <a:srgbClr val="A9C3CF"/>
                </a:solidFill>
                <a:latin typeface="Arial"/>
                <a:ea typeface="Arial"/>
                <a:cs typeface="Arial"/>
              </a:rPr>
              <a:t>Rayan   1:20</a:t>
            </a:r>
          </a:p>
        </p:txBody>
      </p:sp>
      <p:sp>
        <p:nvSpPr>
          <p:cNvPr id="11" name="numero">
            <a:extLst xmlns:a="http://schemas.openxmlformats.org/drawingml/2006/main">
              <a:ext uri="{FF2B5EF4-FFF2-40B4-BE49-F238E27FC236}">
                <a16:creationId xmlns:a16="http://schemas.microsoft.com/office/drawing/2014/main" id="{EA1EF7F1-7A92-4375-8383-63ED5DC28223}"/>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A9C3CF"/>
                </a:solidFill>
                <a:latin typeface="Arial"/>
                <a:ea typeface="Arial"/>
                <a:cs typeface="Arial"/>
              </a:defRPr>
            </a:defPPr>
            <a:lvl1pPr algn="l">
              <a:defRPr sz="1350" b="0">
                <a:solidFill>
                  <a:srgbClr val="A9C3CF"/>
                </a:solidFill>
                <a:latin typeface="Arial"/>
                <a:ea typeface="Arial"/>
                <a:cs typeface="Arial"/>
              </a:defRPr>
            </a:lvl1pPr>
            <a:lvl2pPr algn="l">
              <a:defRPr sz="1350" b="0">
                <a:solidFill>
                  <a:srgbClr val="A9C3CF"/>
                </a:solidFill>
                <a:latin typeface="Arial"/>
                <a:ea typeface="Arial"/>
                <a:cs typeface="Arial"/>
              </a:defRPr>
            </a:lvl2pPr>
            <a:lvl3pPr algn="l">
              <a:defRPr sz="1350" b="0">
                <a:solidFill>
                  <a:srgbClr val="A9C3CF"/>
                </a:solidFill>
                <a:latin typeface="Arial"/>
                <a:ea typeface="Arial"/>
                <a:cs typeface="Arial"/>
              </a:defRPr>
            </a:lvl3pPr>
            <a:lvl4pPr algn="l">
              <a:defRPr sz="1350" b="0">
                <a:solidFill>
                  <a:srgbClr val="A9C3CF"/>
                </a:solidFill>
                <a:latin typeface="Arial"/>
                <a:ea typeface="Arial"/>
                <a:cs typeface="Arial"/>
              </a:defRPr>
            </a:lvl4pPr>
            <a:lvl5pPr algn="l">
              <a:defRPr sz="1350" b="0">
                <a:solidFill>
                  <a:srgbClr val="A9C3CF"/>
                </a:solidFill>
                <a:latin typeface="Arial"/>
                <a:ea typeface="Arial"/>
                <a:cs typeface="Arial"/>
              </a:defRPr>
            </a:lvl5pPr>
            <a:lvl6pPr algn="l">
              <a:defRPr sz="1350" b="0">
                <a:solidFill>
                  <a:srgbClr val="A9C3CF"/>
                </a:solidFill>
                <a:latin typeface="Arial"/>
                <a:ea typeface="Arial"/>
                <a:cs typeface="Arial"/>
              </a:defRPr>
            </a:lvl6pPr>
            <a:lvl7pPr algn="l">
              <a:defRPr sz="1350" b="0">
                <a:solidFill>
                  <a:srgbClr val="A9C3CF"/>
                </a:solidFill>
                <a:latin typeface="Arial"/>
                <a:ea typeface="Arial"/>
                <a:cs typeface="Arial"/>
              </a:defRPr>
            </a:lvl7pPr>
            <a:lvl8pPr algn="l">
              <a:defRPr sz="1350" b="0">
                <a:solidFill>
                  <a:srgbClr val="A9C3CF"/>
                </a:solidFill>
                <a:latin typeface="Arial"/>
                <a:ea typeface="Arial"/>
                <a:cs typeface="Arial"/>
              </a:defRPr>
            </a:lvl8pPr>
            <a:lvl9pPr algn="l">
              <a:defRPr sz="1350" b="0">
                <a:solidFill>
                  <a:srgbClr val="A9C3CF"/>
                </a:solidFill>
                <a:latin typeface="Arial"/>
                <a:ea typeface="Arial"/>
                <a:cs typeface="Arial"/>
              </a:defRPr>
            </a:lvl9pPr>
          </a:lstStyle>
          <a:p xmlns:a="http://schemas.openxmlformats.org/drawingml/2006/main">
            <a:pPr algn="l">
              <a:defRPr sz="1350" b="0">
                <a:solidFill>
                  <a:srgbClr val="A9C3CF"/>
                </a:solidFill>
                <a:latin typeface="Arial"/>
                <a:ea typeface="Arial"/>
                <a:cs typeface="Arial"/>
              </a:defRPr>
            </a:pPr>
            <a:r>
              <a:rPr sz="1350" b="0">
                <a:solidFill>
                  <a:srgbClr val="A9C3CF"/>
                </a:solidFill>
                <a:latin typeface="Arial"/>
                <a:ea typeface="Arial"/>
                <a:cs typeface="Arial"/>
              </a:rPr>
              <a:t>06 / 09</a:t>
            </a:r>
          </a:p>
        </p:txBody>
      </p:sp>
    </p:spTree>
    <p:extLst>
      <p:ext uri="{BB962C8B-B14F-4D97-AF65-F5344CB8AC3E}">
        <p14:creationId xmlns:p14="http://schemas.microsoft.com/office/powerpoint/2010/main" val="2078215819"/>
      </p:ext>
    </p:extLst>
  </p:cSld>
</p:sld>
</file>

<file path=ppt/slides/slide7.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A73B0EE8-2476-43A2-8D6C-C8541E124D66}"/>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L’automatisation avec Airflow</a:t>
            </a:r>
          </a:p>
        </p:txBody>
      </p:sp>
      <p:graphicFrame>
        <p:nvGraphicFramePr>
          <p:cNvPr id="3" name="">
            <a:extLst xmlns:a="http://schemas.openxmlformats.org/drawingml/2006/main">
              <a:ext uri="{FF2B5EF4-FFF2-40B4-BE49-F238E27FC236}">
                <a16:creationId xmlns:a16="http://schemas.microsoft.com/office/drawing/2014/main" id="{89E7AE11-9C1B-40B8-8FD0-0D20A91A9F95}"/>
              </a:ext>
            </a:extLst>
          </p:cNvPr>
          <p:cNvGraphicFramePr/>
          <p:nvPr/>
        </p:nvGraphicFramePr>
        <p:xfrm>
          <a:off xmlns:a="http://schemas.openxmlformats.org/drawingml/2006/main" x="685800" y="1781175"/>
          <a:ext xmlns:a="http://schemas.openxmlformats.org/drawingml/2006/main" cx="4953000" cy="3429000"/>
        </p:xfrm>
        <a:graphic xmlns:a="http://schemas.openxmlformats.org/drawingml/2006/main">
          <a:graphicData uri="http://schemas.openxmlformats.org/drawingml/2006/table">
            <a:tbl>
              <a:tblPr firstRow="1" firstCol="0" bandRow="0"/>
              <a:tblGrid>
                <a:gridCol w="1657350"/>
                <a:gridCol w="1352550"/>
                <a:gridCol w="1943100"/>
              </a:tblGrid>
              <a:tr h="857250">
                <a:tc>
                  <a:txBody>
                    <a:bodyPr/>
                    <a:lstStyle/>
                    <a:p>
                      <a:r>
                        <a:rPr sz="1650" b="1">
                          <a:solidFill>
                            <a:srgbClr val="FFFFFF"/>
                          </a:solidFill>
                          <a:latin typeface="Arial"/>
                          <a:ea typeface="Arial"/>
                          <a:cs typeface="Arial"/>
                        </a:rPr>
                        <a:t>DAG</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650" b="1">
                          <a:solidFill>
                            <a:srgbClr val="FFFFFF"/>
                          </a:solidFill>
                          <a:latin typeface="Arial"/>
                          <a:ea typeface="Arial"/>
                          <a:cs typeface="Arial"/>
                        </a:rPr>
                        <a:t>Quand ?</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c>
                  <a:txBody>
                    <a:bodyPr/>
                    <a:lstStyle/>
                    <a:p>
                      <a:r>
                        <a:rPr sz="1650" b="1">
                          <a:solidFill>
                            <a:srgbClr val="FFFFFF"/>
                          </a:solidFill>
                          <a:latin typeface="Arial"/>
                          <a:ea typeface="Arial"/>
                          <a:cs typeface="Arial"/>
                        </a:rPr>
                        <a:t>Son travail</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02B3D"/>
                    </a:solidFill>
                  </a:tcPr>
                </a:tc>
              </a:tr>
              <a:tr h="857250">
                <a:tc>
                  <a:txBody>
                    <a:bodyPr/>
                    <a:lstStyle/>
                    <a:p>
                      <a:r>
                        <a:rPr sz="1650" b="1">
                          <a:solidFill>
                            <a:srgbClr val="087D79"/>
                          </a:solidFill>
                          <a:latin typeface="Arial"/>
                          <a:ea typeface="Arial"/>
                          <a:cs typeface="Arial"/>
                        </a:rPr>
                        <a:t>Dimensions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650">
                          <a:solidFill>
                            <a:srgbClr val="163348"/>
                          </a:solidFill>
                          <a:latin typeface="Arial"/>
                          <a:ea typeface="Arial"/>
                          <a:cs typeface="Arial"/>
                        </a:rPr>
                        <a:t>Chaque jour</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650">
                          <a:solidFill>
                            <a:srgbClr val="163348"/>
                          </a:solidFill>
                          <a:latin typeface="Arial"/>
                          <a:ea typeface="Arial"/>
                          <a:cs typeface="Arial"/>
                        </a:rPr>
                        <a:t>Actualiser les référentiels</a:t>
                      </a:r>
                    </a:p>
                  </a:txBody>
                  <a:tcPr marL="91440" marR="91440" marT="45720" marB="45720">
                    <a:lnR w="19050">
                      <a:solidFill>
                        <a:srgbClr val="FFFFFF"/>
                      </a:solidFill>
                      <a:prstDash val="solid"/>
                    </a:lnR>
                    <a:lnB w="19050">
                      <a:solidFill>
                        <a:srgbClr val="FFFFFF"/>
                      </a:solidFill>
                      <a:prstDash val="solid"/>
                    </a:lnB>
                    <a:solidFill>
                      <a:srgbClr val="FFFFFF"/>
                    </a:solidFill>
                  </a:tcPr>
                </a:tc>
              </a:tr>
              <a:tr h="857250">
                <a:tc>
                  <a:txBody>
                    <a:bodyPr/>
                    <a:lstStyle/>
                    <a:p>
                      <a:r>
                        <a:rPr sz="1650" b="1">
                          <a:solidFill>
                            <a:srgbClr val="087D79"/>
                          </a:solidFill>
                          <a:latin typeface="Arial"/>
                          <a:ea typeface="Arial"/>
                          <a:cs typeface="Arial"/>
                        </a:rPr>
                        <a:t>Commandes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AF0F5"/>
                    </a:solidFill>
                  </a:tcPr>
                </a:tc>
                <a:tc>
                  <a:txBody>
                    <a:bodyPr/>
                    <a:lstStyle/>
                    <a:p>
                      <a:r>
                        <a:rPr sz="1650">
                          <a:solidFill>
                            <a:srgbClr val="163348"/>
                          </a:solidFill>
                          <a:latin typeface="Arial"/>
                          <a:ea typeface="Arial"/>
                          <a:cs typeface="Arial"/>
                        </a:rPr>
                        <a:t>Chaque jour</a:t>
                      </a:r>
                    </a:p>
                  </a:txBody>
                  <a:tcPr marL="91440" marR="91440" marT="45720" marB="45720">
                    <a:lnR w="19050">
                      <a:solidFill>
                        <a:srgbClr val="FFFFFF"/>
                      </a:solidFill>
                      <a:prstDash val="solid"/>
                    </a:lnR>
                    <a:lnB w="19050">
                      <a:solidFill>
                        <a:srgbClr val="FFFFFF"/>
                      </a:solidFill>
                      <a:prstDash val="solid"/>
                    </a:lnB>
                    <a:solidFill>
                      <a:srgbClr val="EAF0F5"/>
                    </a:solidFill>
                  </a:tcPr>
                </a:tc>
                <a:tc>
                  <a:txBody>
                    <a:bodyPr/>
                    <a:lstStyle/>
                    <a:p>
                      <a:r>
                        <a:rPr sz="1650">
                          <a:solidFill>
                            <a:srgbClr val="163348"/>
                          </a:solidFill>
                          <a:latin typeface="Arial"/>
                          <a:ea typeface="Arial"/>
                          <a:cs typeface="Arial"/>
                        </a:rPr>
                        <a:t>Charger les commandes</a:t>
                      </a:r>
                    </a:p>
                  </a:txBody>
                  <a:tcPr marL="91440" marR="91440" marT="45720" marB="45720">
                    <a:lnR w="19050">
                      <a:solidFill>
                        <a:srgbClr val="FFFFFF"/>
                      </a:solidFill>
                      <a:prstDash val="solid"/>
                    </a:lnR>
                    <a:lnB w="19050">
                      <a:solidFill>
                        <a:srgbClr val="FFFFFF"/>
                      </a:solidFill>
                      <a:prstDash val="solid"/>
                    </a:lnB>
                    <a:solidFill>
                      <a:srgbClr val="EAF0F5"/>
                    </a:solidFill>
                  </a:tcPr>
                </a:tc>
              </a:tr>
              <a:tr h="857250">
                <a:tc>
                  <a:txBody>
                    <a:bodyPr/>
                    <a:lstStyle/>
                    <a:p>
                      <a:r>
                        <a:rPr sz="1650" b="1">
                          <a:solidFill>
                            <a:srgbClr val="087D79"/>
                          </a:solidFill>
                          <a:latin typeface="Arial"/>
                          <a:ea typeface="Arial"/>
                          <a:cs typeface="Arial"/>
                        </a:rPr>
                        <a:t>Agrégations</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650">
                          <a:solidFill>
                            <a:srgbClr val="163348"/>
                          </a:solidFill>
                          <a:latin typeface="Arial"/>
                          <a:ea typeface="Arial"/>
                          <a:cs typeface="Arial"/>
                        </a:rPr>
                        <a:t>Après les ventes</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650">
                          <a:solidFill>
                            <a:srgbClr val="163348"/>
                          </a:solidFill>
                          <a:latin typeface="Arial"/>
                          <a:ea typeface="Arial"/>
                          <a:cs typeface="Arial"/>
                        </a:rPr>
                        <a:t>Recalculer les indicateurs</a:t>
                      </a:r>
                    </a:p>
                  </a:txBody>
                  <a:tcPr marL="91440" marR="91440" marT="45720" marB="45720">
                    <a:lnR w="19050">
                      <a:solidFill>
                        <a:srgbClr val="FFFFFF"/>
                      </a:solidFill>
                      <a:prstDash val="solid"/>
                    </a:lnR>
                    <a:lnB w="19050">
                      <a:solidFill>
                        <a:srgbClr val="FFFFFF"/>
                      </a:solidFill>
                      <a:prstDash val="solid"/>
                    </a:lnB>
                    <a:solidFill>
                      <a:srgbClr val="FFFFFF"/>
                    </a:solidFill>
                  </a:tcPr>
                </a:tc>
              </a:tr>
            </a:tbl>
          </a:graphicData>
        </a:graphic>
      </p:graphicFrame>
      <p:sp>
        <p:nvSpPr>
          <p:cNvPr id="4" name="a-retenir">
            <a:extLst xmlns:a="http://schemas.openxmlformats.org/drawingml/2006/main">
              <a:ext uri="{FF2B5EF4-FFF2-40B4-BE49-F238E27FC236}">
                <a16:creationId xmlns:a16="http://schemas.microsoft.com/office/drawing/2014/main" id="{A05903D1-E426-48A8-8DCF-63735F723A98}"/>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Un DAG décrit les tâches et l’ordre dans lequel Airflow les exécute.</a:t>
            </a:r>
          </a:p>
        </p:txBody>
      </p:sp>
      <p:sp>
        <p:nvSpPr>
          <p:cNvPr id="5" name="intervenant">
            <a:extLst xmlns:a="http://schemas.openxmlformats.org/drawingml/2006/main">
              <a:ext uri="{FF2B5EF4-FFF2-40B4-BE49-F238E27FC236}">
                <a16:creationId xmlns:a16="http://schemas.microsoft.com/office/drawing/2014/main" id="{A881C1DB-5E8E-43DF-AA7E-22060BA7560D}"/>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1:30</a:t>
            </a:r>
          </a:p>
        </p:txBody>
      </p:sp>
      <p:sp>
        <p:nvSpPr>
          <p:cNvPr id="6" name="numero">
            <a:extLst xmlns:a="http://schemas.openxmlformats.org/drawingml/2006/main">
              <a:ext uri="{FF2B5EF4-FFF2-40B4-BE49-F238E27FC236}">
                <a16:creationId xmlns:a16="http://schemas.microsoft.com/office/drawing/2014/main" id="{3216065C-B6C0-4917-831A-B94EDFAB9531}"/>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07 / 09</a:t>
            </a:r>
          </a:p>
        </p:txBody>
      </p:sp>
      <p:pic>
        <p:nvPicPr>
          <p:cNvPr id="7" name="">
            <a:extLst xmlns:a="http://schemas.openxmlformats.org/drawingml/2006/main">
              <a:ext uri="{FF2B5EF4-FFF2-40B4-BE49-F238E27FC236}">
                <a16:creationId xmlns:a16="http://schemas.microsoft.com/office/drawing/2014/main" id="{39E1B54C-6490-49DE-954A-1DEF7107B636}"/>
              </a:ext>
            </a:extLst>
          </p:cNvPr>
          <p:cNvPicPr>
            <a:picLocks xmlns:a="http://schemas.openxmlformats.org/drawingml/2006/main" noChangeAspect="1"/>
          </p:cNvPicPr>
          <p:nvPr/>
        </p:nvPicPr>
        <p:blipFill>
          <a:blip xmlns:r="http://schemas.openxmlformats.org/officeDocument/2006/relationships" xmlns:a="http://schemas.openxmlformats.org/drawingml/2006/main" r:embed="Rda394073973442c9"/>
          <a:srcRect xmlns:a="http://schemas.openxmlformats.org/drawingml/2006/main" l="10300" t="30400" r="3000" b="8500"/>
          <a:stretch xmlns:a="http://schemas.openxmlformats.org/drawingml/2006/main"/>
        </p:blipFill>
        <p:spPr>
          <a:xfrm xmlns:a="http://schemas.openxmlformats.org/drawingml/2006/main">
            <a:off x="6096000" y="1781175"/>
            <a:ext cx="5410200" cy="3429000"/>
          </a:xfrm>
          <a:prstGeom xmlns:a="http://schemas.openxmlformats.org/drawingml/2006/main" prst="rect">
            <a:avLst/>
          </a:prstGeom>
        </p:spPr>
      </p:pic>
      <p:sp>
        <p:nvSpPr>
          <p:cNvPr id="8" name="capture-legende">
            <a:extLst xmlns:a="http://schemas.openxmlformats.org/drawingml/2006/main">
              <a:ext uri="{FF2B5EF4-FFF2-40B4-BE49-F238E27FC236}">
                <a16:creationId xmlns:a16="http://schemas.microsoft.com/office/drawing/2014/main" id="{9048EEAA-15FA-4148-8ED4-22E84B090E18}"/>
              </a:ext>
            </a:extLst>
          </p:cNvPr>
          <p:cNvSpPr>
            <a:spLocks xmlns:a="http://schemas.openxmlformats.org/drawingml/2006/main" noGrp="1"/>
          </p:cNvSpPr>
          <p:nvPr/>
        </p:nvSpPr>
        <p:spPr>
          <a:xfrm xmlns:a="http://schemas.openxmlformats.org/drawingml/2006/main">
            <a:off x="6096000" y="5305425"/>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1725">
                <a:solidFill>
                  <a:srgbClr val="087D79"/>
                </a:solidFill>
                <a:latin typeface="Arial"/>
                <a:ea typeface="Arial"/>
                <a:cs typeface="Arial"/>
              </a:defRPr>
            </a:defPPr>
            <a:lvl1pPr>
              <a:defRPr sz="1725">
                <a:solidFill>
                  <a:srgbClr val="087D79"/>
                </a:solidFill>
                <a:latin typeface="Arial"/>
                <a:ea typeface="Arial"/>
                <a:cs typeface="Arial"/>
              </a:defRPr>
            </a:lvl1pPr>
            <a:lvl2pPr>
              <a:defRPr sz="1725">
                <a:solidFill>
                  <a:srgbClr val="087D79"/>
                </a:solidFill>
                <a:latin typeface="Arial"/>
                <a:ea typeface="Arial"/>
                <a:cs typeface="Arial"/>
              </a:defRPr>
            </a:lvl2pPr>
            <a:lvl3pPr>
              <a:defRPr sz="1725">
                <a:solidFill>
                  <a:srgbClr val="087D79"/>
                </a:solidFill>
                <a:latin typeface="Arial"/>
                <a:ea typeface="Arial"/>
                <a:cs typeface="Arial"/>
              </a:defRPr>
            </a:lvl3pPr>
            <a:lvl4pPr>
              <a:defRPr sz="1725">
                <a:solidFill>
                  <a:srgbClr val="087D79"/>
                </a:solidFill>
                <a:latin typeface="Arial"/>
                <a:ea typeface="Arial"/>
                <a:cs typeface="Arial"/>
              </a:defRPr>
            </a:lvl4pPr>
            <a:lvl5pPr>
              <a:defRPr sz="1725">
                <a:solidFill>
                  <a:srgbClr val="087D79"/>
                </a:solidFill>
                <a:latin typeface="Arial"/>
                <a:ea typeface="Arial"/>
                <a:cs typeface="Arial"/>
              </a:defRPr>
            </a:lvl5pPr>
            <a:lvl6pPr>
              <a:defRPr sz="1725">
                <a:solidFill>
                  <a:srgbClr val="087D79"/>
                </a:solidFill>
                <a:latin typeface="Arial"/>
                <a:ea typeface="Arial"/>
                <a:cs typeface="Arial"/>
              </a:defRPr>
            </a:lvl6pPr>
            <a:lvl7pPr>
              <a:defRPr sz="1725">
                <a:solidFill>
                  <a:srgbClr val="087D79"/>
                </a:solidFill>
                <a:latin typeface="Arial"/>
                <a:ea typeface="Arial"/>
                <a:cs typeface="Arial"/>
              </a:defRPr>
            </a:lvl7pPr>
            <a:lvl8pPr>
              <a:defRPr sz="1725">
                <a:solidFill>
                  <a:srgbClr val="087D79"/>
                </a:solidFill>
                <a:latin typeface="Arial"/>
                <a:ea typeface="Arial"/>
                <a:cs typeface="Arial"/>
              </a:defRPr>
            </a:lvl8pPr>
            <a:lvl9pPr>
              <a:defRPr sz="1725">
                <a:solidFill>
                  <a:srgbClr val="087D79"/>
                </a:solidFill>
                <a:latin typeface="Arial"/>
                <a:ea typeface="Arial"/>
                <a:cs typeface="Arial"/>
              </a:defRPr>
            </a:lvl9pPr>
          </a:lstStyle>
          <a:p xmlns:a="http://schemas.openxmlformats.org/drawingml/2006/main">
            <a:pPr>
              <a:defRPr sz="1725">
                <a:solidFill>
                  <a:srgbClr val="087D79"/>
                </a:solidFill>
                <a:latin typeface="Arial"/>
                <a:ea typeface="Arial"/>
                <a:cs typeface="Arial"/>
              </a:defRPr>
            </a:pPr>
            <a:r>
              <a:rPr sz="1725">
                <a:solidFill>
                  <a:srgbClr val="087D79"/>
                </a:solidFill>
                <a:latin typeface="Arial"/>
                <a:ea typeface="Arial"/>
                <a:cs typeface="Arial"/>
              </a:rPr>
              <a:t>Les trois DAGs ont réussi</a:t>
            </a:r>
          </a:p>
        </p:txBody>
      </p:sp>
    </p:spTree>
    <p:extLst>
      <p:ext uri="{BB962C8B-B14F-4D97-AF65-F5344CB8AC3E}">
        <p14:creationId xmlns:p14="http://schemas.microsoft.com/office/powerpoint/2010/main" val="1121918675"/>
      </p:ext>
    </p:extLst>
  </p:cSld>
</p:sld>
</file>

<file path=ppt/slides/slide8.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D0403EBE-DBC9-4DC0-8DF7-4811F65A1B7F}"/>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Les résultats sur notre jeu fictif</a:t>
            </a:r>
          </a:p>
        </p:txBody>
      </p:sp>
      <p:sp>
        <p:nvSpPr>
          <p:cNvPr id="3" name="commandes">
            <a:extLst xmlns:a="http://schemas.openxmlformats.org/drawingml/2006/main">
              <a:ext uri="{FF2B5EF4-FFF2-40B4-BE49-F238E27FC236}">
                <a16:creationId xmlns:a16="http://schemas.microsoft.com/office/drawing/2014/main" id="{E09D0311-E201-4595-95C4-B524BA49A0BB}"/>
              </a:ext>
            </a:extLst>
          </p:cNvPr>
          <p:cNvSpPr>
            <a:spLocks xmlns:a="http://schemas.openxmlformats.org/drawingml/2006/main" noGrp="1"/>
          </p:cNvSpPr>
          <p:nvPr/>
        </p:nvSpPr>
        <p:spPr>
          <a:xfrm xmlns:a="http://schemas.openxmlformats.org/drawingml/2006/main">
            <a:off x="685800" y="169545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4800" b="1">
                <a:solidFill>
                  <a:srgbClr val="087D79"/>
                </a:solidFill>
                <a:latin typeface="Arial"/>
                <a:ea typeface="Arial"/>
                <a:cs typeface="Arial"/>
              </a:defRPr>
            </a:defPPr>
            <a:lvl1pPr algn="l">
              <a:defRPr sz="4800" b="1">
                <a:solidFill>
                  <a:srgbClr val="087D79"/>
                </a:solidFill>
                <a:latin typeface="Arial"/>
                <a:ea typeface="Arial"/>
                <a:cs typeface="Arial"/>
              </a:defRPr>
            </a:lvl1pPr>
            <a:lvl2pPr algn="l">
              <a:defRPr sz="4800" b="1">
                <a:solidFill>
                  <a:srgbClr val="087D79"/>
                </a:solidFill>
                <a:latin typeface="Arial"/>
                <a:ea typeface="Arial"/>
                <a:cs typeface="Arial"/>
              </a:defRPr>
            </a:lvl2pPr>
            <a:lvl3pPr algn="l">
              <a:defRPr sz="4800" b="1">
                <a:solidFill>
                  <a:srgbClr val="087D79"/>
                </a:solidFill>
                <a:latin typeface="Arial"/>
                <a:ea typeface="Arial"/>
                <a:cs typeface="Arial"/>
              </a:defRPr>
            </a:lvl3pPr>
            <a:lvl4pPr algn="l">
              <a:defRPr sz="4800" b="1">
                <a:solidFill>
                  <a:srgbClr val="087D79"/>
                </a:solidFill>
                <a:latin typeface="Arial"/>
                <a:ea typeface="Arial"/>
                <a:cs typeface="Arial"/>
              </a:defRPr>
            </a:lvl4pPr>
            <a:lvl5pPr algn="l">
              <a:defRPr sz="4800" b="1">
                <a:solidFill>
                  <a:srgbClr val="087D79"/>
                </a:solidFill>
                <a:latin typeface="Arial"/>
                <a:ea typeface="Arial"/>
                <a:cs typeface="Arial"/>
              </a:defRPr>
            </a:lvl5pPr>
            <a:lvl6pPr algn="l">
              <a:defRPr sz="4800" b="1">
                <a:solidFill>
                  <a:srgbClr val="087D79"/>
                </a:solidFill>
                <a:latin typeface="Arial"/>
                <a:ea typeface="Arial"/>
                <a:cs typeface="Arial"/>
              </a:defRPr>
            </a:lvl6pPr>
            <a:lvl7pPr algn="l">
              <a:defRPr sz="4800" b="1">
                <a:solidFill>
                  <a:srgbClr val="087D79"/>
                </a:solidFill>
                <a:latin typeface="Arial"/>
                <a:ea typeface="Arial"/>
                <a:cs typeface="Arial"/>
              </a:defRPr>
            </a:lvl7pPr>
            <a:lvl8pPr algn="l">
              <a:defRPr sz="4800" b="1">
                <a:solidFill>
                  <a:srgbClr val="087D79"/>
                </a:solidFill>
                <a:latin typeface="Arial"/>
                <a:ea typeface="Arial"/>
                <a:cs typeface="Arial"/>
              </a:defRPr>
            </a:lvl8pPr>
            <a:lvl9pPr algn="l">
              <a:defRPr sz="4800" b="1">
                <a:solidFill>
                  <a:srgbClr val="087D79"/>
                </a:solidFill>
                <a:latin typeface="Arial"/>
                <a:ea typeface="Arial"/>
                <a:cs typeface="Arial"/>
              </a:defRPr>
            </a:lvl9pPr>
          </a:lstStyle>
          <a:p xmlns:a="http://schemas.openxmlformats.org/drawingml/2006/main">
            <a:pPr algn="l">
              <a:defRPr sz="4800" b="1">
                <a:solidFill>
                  <a:srgbClr val="087D79"/>
                </a:solidFill>
                <a:latin typeface="Arial"/>
                <a:ea typeface="Arial"/>
                <a:cs typeface="Arial"/>
              </a:defRPr>
            </a:pPr>
            <a:r>
              <a:rPr sz="4800" b="1">
                <a:solidFill>
                  <a:srgbClr val="087D79"/>
                </a:solidFill>
                <a:latin typeface="Arial"/>
                <a:ea typeface="Arial"/>
                <a:cs typeface="Arial"/>
              </a:rPr>
              <a:t>31 643</a:t>
            </a:r>
          </a:p>
        </p:txBody>
      </p:sp>
      <p:sp>
        <p:nvSpPr>
          <p:cNvPr id="4" name="commandes-label">
            <a:extLst xmlns:a="http://schemas.openxmlformats.org/drawingml/2006/main">
              <a:ext uri="{FF2B5EF4-FFF2-40B4-BE49-F238E27FC236}">
                <a16:creationId xmlns:a16="http://schemas.microsoft.com/office/drawing/2014/main" id="{BFCDD308-AA16-49B5-95F1-EE1EA52D2BF7}"/>
              </a:ext>
            </a:extLst>
          </p:cNvPr>
          <p:cNvSpPr>
            <a:spLocks xmlns:a="http://schemas.openxmlformats.org/drawingml/2006/main" noGrp="1"/>
          </p:cNvSpPr>
          <p:nvPr/>
        </p:nvSpPr>
        <p:spPr>
          <a:xfrm xmlns:a="http://schemas.openxmlformats.org/drawingml/2006/main">
            <a:off x="685800" y="24479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87080"/>
                </a:solidFill>
                <a:latin typeface="Arial"/>
                <a:ea typeface="Arial"/>
                <a:cs typeface="Arial"/>
              </a:defRPr>
            </a:defPPr>
            <a:lvl1pPr algn="l">
              <a:defRPr sz="2025" b="0">
                <a:solidFill>
                  <a:srgbClr val="587080"/>
                </a:solidFill>
                <a:latin typeface="Arial"/>
                <a:ea typeface="Arial"/>
                <a:cs typeface="Arial"/>
              </a:defRPr>
            </a:lvl1pPr>
            <a:lvl2pPr algn="l">
              <a:defRPr sz="2025" b="0">
                <a:solidFill>
                  <a:srgbClr val="587080"/>
                </a:solidFill>
                <a:latin typeface="Arial"/>
                <a:ea typeface="Arial"/>
                <a:cs typeface="Arial"/>
              </a:defRPr>
            </a:lvl2pPr>
            <a:lvl3pPr algn="l">
              <a:defRPr sz="2025" b="0">
                <a:solidFill>
                  <a:srgbClr val="587080"/>
                </a:solidFill>
                <a:latin typeface="Arial"/>
                <a:ea typeface="Arial"/>
                <a:cs typeface="Arial"/>
              </a:defRPr>
            </a:lvl3pPr>
            <a:lvl4pPr algn="l">
              <a:defRPr sz="2025" b="0">
                <a:solidFill>
                  <a:srgbClr val="587080"/>
                </a:solidFill>
                <a:latin typeface="Arial"/>
                <a:ea typeface="Arial"/>
                <a:cs typeface="Arial"/>
              </a:defRPr>
            </a:lvl4pPr>
            <a:lvl5pPr algn="l">
              <a:defRPr sz="2025" b="0">
                <a:solidFill>
                  <a:srgbClr val="587080"/>
                </a:solidFill>
                <a:latin typeface="Arial"/>
                <a:ea typeface="Arial"/>
                <a:cs typeface="Arial"/>
              </a:defRPr>
            </a:lvl5pPr>
            <a:lvl6pPr algn="l">
              <a:defRPr sz="2025" b="0">
                <a:solidFill>
                  <a:srgbClr val="587080"/>
                </a:solidFill>
                <a:latin typeface="Arial"/>
                <a:ea typeface="Arial"/>
                <a:cs typeface="Arial"/>
              </a:defRPr>
            </a:lvl6pPr>
            <a:lvl7pPr algn="l">
              <a:defRPr sz="2025" b="0">
                <a:solidFill>
                  <a:srgbClr val="587080"/>
                </a:solidFill>
                <a:latin typeface="Arial"/>
                <a:ea typeface="Arial"/>
                <a:cs typeface="Arial"/>
              </a:defRPr>
            </a:lvl7pPr>
            <a:lvl8pPr algn="l">
              <a:defRPr sz="2025" b="0">
                <a:solidFill>
                  <a:srgbClr val="587080"/>
                </a:solidFill>
                <a:latin typeface="Arial"/>
                <a:ea typeface="Arial"/>
                <a:cs typeface="Arial"/>
              </a:defRPr>
            </a:lvl8pPr>
            <a:lvl9pPr algn="l">
              <a:defRPr sz="2025" b="0">
                <a:solidFill>
                  <a:srgbClr val="587080"/>
                </a:solidFill>
                <a:latin typeface="Arial"/>
                <a:ea typeface="Arial"/>
                <a:cs typeface="Arial"/>
              </a:defRPr>
            </a:lvl9pPr>
          </a:lstStyle>
          <a:p xmlns:a="http://schemas.openxmlformats.org/drawingml/2006/main">
            <a:pPr algn="l">
              <a:defRPr sz="2025" b="0">
                <a:solidFill>
                  <a:srgbClr val="587080"/>
                </a:solidFill>
                <a:latin typeface="Arial"/>
                <a:ea typeface="Arial"/>
                <a:cs typeface="Arial"/>
              </a:defRPr>
            </a:pPr>
            <a:r>
              <a:rPr sz="2025" b="0">
                <a:solidFill>
                  <a:srgbClr val="587080"/>
                </a:solidFill>
                <a:latin typeface="Arial"/>
                <a:ea typeface="Arial"/>
                <a:cs typeface="Arial"/>
              </a:rPr>
              <a:t>commandes sur 30 jours</a:t>
            </a:r>
          </a:p>
        </p:txBody>
      </p:sp>
      <p:sp>
        <p:nvSpPr>
          <p:cNvPr id="5" name="jours">
            <a:extLst xmlns:a="http://schemas.openxmlformats.org/drawingml/2006/main">
              <a:ext uri="{FF2B5EF4-FFF2-40B4-BE49-F238E27FC236}">
                <a16:creationId xmlns:a16="http://schemas.microsoft.com/office/drawing/2014/main" id="{19FD4A3C-0096-4AF6-A762-CEDD26C4172B}"/>
              </a:ext>
            </a:extLst>
          </p:cNvPr>
          <p:cNvSpPr>
            <a:spLocks xmlns:a="http://schemas.openxmlformats.org/drawingml/2006/main" noGrp="1"/>
          </p:cNvSpPr>
          <p:nvPr/>
        </p:nvSpPr>
        <p:spPr>
          <a:xfrm xmlns:a="http://schemas.openxmlformats.org/drawingml/2006/main">
            <a:off x="685800" y="28956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163348"/>
                </a:solidFill>
                <a:latin typeface="Arial"/>
                <a:ea typeface="Arial"/>
                <a:cs typeface="Arial"/>
              </a:defRPr>
            </a:defPPr>
            <a:lvl1pPr algn="l">
              <a:defRPr sz="1800" b="1">
                <a:solidFill>
                  <a:srgbClr val="163348"/>
                </a:solidFill>
                <a:latin typeface="Arial"/>
                <a:ea typeface="Arial"/>
                <a:cs typeface="Arial"/>
              </a:defRPr>
            </a:lvl1pPr>
            <a:lvl2pPr algn="l">
              <a:defRPr sz="1800" b="1">
                <a:solidFill>
                  <a:srgbClr val="163348"/>
                </a:solidFill>
                <a:latin typeface="Arial"/>
                <a:ea typeface="Arial"/>
                <a:cs typeface="Arial"/>
              </a:defRPr>
            </a:lvl2pPr>
            <a:lvl3pPr algn="l">
              <a:defRPr sz="1800" b="1">
                <a:solidFill>
                  <a:srgbClr val="163348"/>
                </a:solidFill>
                <a:latin typeface="Arial"/>
                <a:ea typeface="Arial"/>
                <a:cs typeface="Arial"/>
              </a:defRPr>
            </a:lvl3pPr>
            <a:lvl4pPr algn="l">
              <a:defRPr sz="1800" b="1">
                <a:solidFill>
                  <a:srgbClr val="163348"/>
                </a:solidFill>
                <a:latin typeface="Arial"/>
                <a:ea typeface="Arial"/>
                <a:cs typeface="Arial"/>
              </a:defRPr>
            </a:lvl4pPr>
            <a:lvl5pPr algn="l">
              <a:defRPr sz="1800" b="1">
                <a:solidFill>
                  <a:srgbClr val="163348"/>
                </a:solidFill>
                <a:latin typeface="Arial"/>
                <a:ea typeface="Arial"/>
                <a:cs typeface="Arial"/>
              </a:defRPr>
            </a:lvl5pPr>
            <a:lvl6pPr algn="l">
              <a:defRPr sz="1800" b="1">
                <a:solidFill>
                  <a:srgbClr val="163348"/>
                </a:solidFill>
                <a:latin typeface="Arial"/>
                <a:ea typeface="Arial"/>
                <a:cs typeface="Arial"/>
              </a:defRPr>
            </a:lvl6pPr>
            <a:lvl7pPr algn="l">
              <a:defRPr sz="1800" b="1">
                <a:solidFill>
                  <a:srgbClr val="163348"/>
                </a:solidFill>
                <a:latin typeface="Arial"/>
                <a:ea typeface="Arial"/>
                <a:cs typeface="Arial"/>
              </a:defRPr>
            </a:lvl7pPr>
            <a:lvl8pPr algn="l">
              <a:defRPr sz="1800" b="1">
                <a:solidFill>
                  <a:srgbClr val="163348"/>
                </a:solidFill>
                <a:latin typeface="Arial"/>
                <a:ea typeface="Arial"/>
                <a:cs typeface="Arial"/>
              </a:defRPr>
            </a:lvl8pPr>
            <a:lvl9pPr algn="l">
              <a:defRPr sz="1800" b="1">
                <a:solidFill>
                  <a:srgbClr val="163348"/>
                </a:solidFill>
                <a:latin typeface="Arial"/>
                <a:ea typeface="Arial"/>
                <a:cs typeface="Arial"/>
              </a:defRPr>
            </a:lvl9pPr>
          </a:lstStyle>
          <a:p xmlns:a="http://schemas.openxmlformats.org/drawingml/2006/main">
            <a:pPr algn="l">
              <a:defRPr sz="1800" b="1">
                <a:solidFill>
                  <a:srgbClr val="163348"/>
                </a:solidFill>
                <a:latin typeface="Arial"/>
                <a:ea typeface="Arial"/>
                <a:cs typeface="Arial"/>
              </a:defRPr>
            </a:pPr>
            <a:r>
              <a:rPr sz="1800" b="1">
                <a:solidFill>
                  <a:srgbClr val="163348"/>
                </a:solidFill>
                <a:latin typeface="Arial"/>
                <a:ea typeface="Arial"/>
                <a:cs typeface="Arial"/>
              </a:rPr>
              <a:t>Chargement vérifié le 21/10</a:t>
            </a:r>
          </a:p>
        </p:txBody>
      </p:sp>
      <p:sp>
        <p:nvSpPr>
          <p:cNvPr id="6" name="tests">
            <a:extLst xmlns:a="http://schemas.openxmlformats.org/drawingml/2006/main">
              <a:ext uri="{FF2B5EF4-FFF2-40B4-BE49-F238E27FC236}">
                <a16:creationId xmlns:a16="http://schemas.microsoft.com/office/drawing/2014/main" id="{8C44E3BC-096D-4963-BF3A-925F7410E030}"/>
              </a:ext>
            </a:extLst>
          </p:cNvPr>
          <p:cNvSpPr>
            <a:spLocks xmlns:a="http://schemas.openxmlformats.org/drawingml/2006/main" noGrp="1"/>
          </p:cNvSpPr>
          <p:nvPr/>
        </p:nvSpPr>
        <p:spPr>
          <a:xfrm xmlns:a="http://schemas.openxmlformats.org/drawingml/2006/main">
            <a:off x="685800" y="33051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63348"/>
                </a:solidFill>
                <a:latin typeface="Arial"/>
                <a:ea typeface="Arial"/>
                <a:cs typeface="Arial"/>
              </a:defRPr>
            </a:defPPr>
            <a:lvl1pPr algn="l">
              <a:defRPr sz="1800" b="0">
                <a:solidFill>
                  <a:srgbClr val="163348"/>
                </a:solidFill>
                <a:latin typeface="Arial"/>
                <a:ea typeface="Arial"/>
                <a:cs typeface="Arial"/>
              </a:defRPr>
            </a:lvl1pPr>
            <a:lvl2pPr algn="l">
              <a:defRPr sz="1800" b="0">
                <a:solidFill>
                  <a:srgbClr val="163348"/>
                </a:solidFill>
                <a:latin typeface="Arial"/>
                <a:ea typeface="Arial"/>
                <a:cs typeface="Arial"/>
              </a:defRPr>
            </a:lvl2pPr>
            <a:lvl3pPr algn="l">
              <a:defRPr sz="1800" b="0">
                <a:solidFill>
                  <a:srgbClr val="163348"/>
                </a:solidFill>
                <a:latin typeface="Arial"/>
                <a:ea typeface="Arial"/>
                <a:cs typeface="Arial"/>
              </a:defRPr>
            </a:lvl3pPr>
            <a:lvl4pPr algn="l">
              <a:defRPr sz="1800" b="0">
                <a:solidFill>
                  <a:srgbClr val="163348"/>
                </a:solidFill>
                <a:latin typeface="Arial"/>
                <a:ea typeface="Arial"/>
                <a:cs typeface="Arial"/>
              </a:defRPr>
            </a:lvl4pPr>
            <a:lvl5pPr algn="l">
              <a:defRPr sz="1800" b="0">
                <a:solidFill>
                  <a:srgbClr val="163348"/>
                </a:solidFill>
                <a:latin typeface="Arial"/>
                <a:ea typeface="Arial"/>
                <a:cs typeface="Arial"/>
              </a:defRPr>
            </a:lvl5pPr>
            <a:lvl6pPr algn="l">
              <a:defRPr sz="1800" b="0">
                <a:solidFill>
                  <a:srgbClr val="163348"/>
                </a:solidFill>
                <a:latin typeface="Arial"/>
                <a:ea typeface="Arial"/>
                <a:cs typeface="Arial"/>
              </a:defRPr>
            </a:lvl6pPr>
            <a:lvl7pPr algn="l">
              <a:defRPr sz="1800" b="0">
                <a:solidFill>
                  <a:srgbClr val="163348"/>
                </a:solidFill>
                <a:latin typeface="Arial"/>
                <a:ea typeface="Arial"/>
                <a:cs typeface="Arial"/>
              </a:defRPr>
            </a:lvl7pPr>
            <a:lvl8pPr algn="l">
              <a:defRPr sz="1800" b="0">
                <a:solidFill>
                  <a:srgbClr val="163348"/>
                </a:solidFill>
                <a:latin typeface="Arial"/>
                <a:ea typeface="Arial"/>
                <a:cs typeface="Arial"/>
              </a:defRPr>
            </a:lvl8pPr>
            <a:lvl9pPr algn="l">
              <a:defRPr sz="1800" b="0">
                <a:solidFill>
                  <a:srgbClr val="163348"/>
                </a:solidFill>
                <a:latin typeface="Arial"/>
                <a:ea typeface="Arial"/>
                <a:cs typeface="Arial"/>
              </a:defRPr>
            </a:lvl9pPr>
          </a:lstStyle>
          <a:p xmlns:a="http://schemas.openxmlformats.org/drawingml/2006/main">
            <a:pPr algn="l">
              <a:defRPr sz="1800" b="0">
                <a:solidFill>
                  <a:srgbClr val="163348"/>
                </a:solidFill>
                <a:latin typeface="Arial"/>
                <a:ea typeface="Arial"/>
                <a:cs typeface="Arial"/>
              </a:defRPr>
            </a:pPr>
            <a:r>
              <a:rPr sz="1800" b="0">
                <a:solidFill>
                  <a:srgbClr val="163348"/>
                </a:solidFill>
                <a:latin typeface="Arial"/>
                <a:ea typeface="Arial"/>
                <a:cs typeface="Arial"/>
              </a:rPr>
              <a:t>24 tests réussis</a:t>
            </a:r>
          </a:p>
        </p:txBody>
      </p:sp>
      <p:sp>
        <p:nvSpPr>
          <p:cNvPr id="7" name="dashboards">
            <a:extLst xmlns:a="http://schemas.openxmlformats.org/drawingml/2006/main">
              <a:ext uri="{FF2B5EF4-FFF2-40B4-BE49-F238E27FC236}">
                <a16:creationId xmlns:a16="http://schemas.microsoft.com/office/drawing/2014/main" id="{C5717677-D187-47BF-B445-4BAA20655D5E}"/>
              </a:ext>
            </a:extLst>
          </p:cNvPr>
          <p:cNvSpPr>
            <a:spLocks xmlns:a="http://schemas.openxmlformats.org/drawingml/2006/main" noGrp="1"/>
          </p:cNvSpPr>
          <p:nvPr/>
        </p:nvSpPr>
        <p:spPr>
          <a:xfrm xmlns:a="http://schemas.openxmlformats.org/drawingml/2006/main">
            <a:off x="3371850" y="33051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63348"/>
                </a:solidFill>
                <a:latin typeface="Arial"/>
                <a:ea typeface="Arial"/>
                <a:cs typeface="Arial"/>
              </a:defRPr>
            </a:defPPr>
            <a:lvl1pPr algn="l">
              <a:defRPr sz="1800" b="0">
                <a:solidFill>
                  <a:srgbClr val="163348"/>
                </a:solidFill>
                <a:latin typeface="Arial"/>
                <a:ea typeface="Arial"/>
                <a:cs typeface="Arial"/>
              </a:defRPr>
            </a:lvl1pPr>
            <a:lvl2pPr algn="l">
              <a:defRPr sz="1800" b="0">
                <a:solidFill>
                  <a:srgbClr val="163348"/>
                </a:solidFill>
                <a:latin typeface="Arial"/>
                <a:ea typeface="Arial"/>
                <a:cs typeface="Arial"/>
              </a:defRPr>
            </a:lvl2pPr>
            <a:lvl3pPr algn="l">
              <a:defRPr sz="1800" b="0">
                <a:solidFill>
                  <a:srgbClr val="163348"/>
                </a:solidFill>
                <a:latin typeface="Arial"/>
                <a:ea typeface="Arial"/>
                <a:cs typeface="Arial"/>
              </a:defRPr>
            </a:lvl3pPr>
            <a:lvl4pPr algn="l">
              <a:defRPr sz="1800" b="0">
                <a:solidFill>
                  <a:srgbClr val="163348"/>
                </a:solidFill>
                <a:latin typeface="Arial"/>
                <a:ea typeface="Arial"/>
                <a:cs typeface="Arial"/>
              </a:defRPr>
            </a:lvl4pPr>
            <a:lvl5pPr algn="l">
              <a:defRPr sz="1800" b="0">
                <a:solidFill>
                  <a:srgbClr val="163348"/>
                </a:solidFill>
                <a:latin typeface="Arial"/>
                <a:ea typeface="Arial"/>
                <a:cs typeface="Arial"/>
              </a:defRPr>
            </a:lvl5pPr>
            <a:lvl6pPr algn="l">
              <a:defRPr sz="1800" b="0">
                <a:solidFill>
                  <a:srgbClr val="163348"/>
                </a:solidFill>
                <a:latin typeface="Arial"/>
                <a:ea typeface="Arial"/>
                <a:cs typeface="Arial"/>
              </a:defRPr>
            </a:lvl6pPr>
            <a:lvl7pPr algn="l">
              <a:defRPr sz="1800" b="0">
                <a:solidFill>
                  <a:srgbClr val="163348"/>
                </a:solidFill>
                <a:latin typeface="Arial"/>
                <a:ea typeface="Arial"/>
                <a:cs typeface="Arial"/>
              </a:defRPr>
            </a:lvl7pPr>
            <a:lvl8pPr algn="l">
              <a:defRPr sz="1800" b="0">
                <a:solidFill>
                  <a:srgbClr val="163348"/>
                </a:solidFill>
                <a:latin typeface="Arial"/>
                <a:ea typeface="Arial"/>
                <a:cs typeface="Arial"/>
              </a:defRPr>
            </a:lvl8pPr>
            <a:lvl9pPr algn="l">
              <a:defRPr sz="1800" b="0">
                <a:solidFill>
                  <a:srgbClr val="163348"/>
                </a:solidFill>
                <a:latin typeface="Arial"/>
                <a:ea typeface="Arial"/>
                <a:cs typeface="Arial"/>
              </a:defRPr>
            </a:lvl9pPr>
          </a:lstStyle>
          <a:p xmlns:a="http://schemas.openxmlformats.org/drawingml/2006/main">
            <a:pPr algn="l">
              <a:defRPr sz="1800" b="0">
                <a:solidFill>
                  <a:srgbClr val="163348"/>
                </a:solidFill>
                <a:latin typeface="Arial"/>
                <a:ea typeface="Arial"/>
                <a:cs typeface="Arial"/>
              </a:defRPr>
            </a:pPr>
            <a:r>
              <a:rPr sz="1800" b="0">
                <a:solidFill>
                  <a:srgbClr val="163348"/>
                </a:solidFill>
                <a:latin typeface="Arial"/>
                <a:ea typeface="Arial"/>
                <a:cs typeface="Arial"/>
              </a:rPr>
              <a:t>2 dashboards</a:t>
            </a:r>
          </a:p>
        </p:txBody>
      </p:sp>
      <p:graphicFrame>
        <p:nvGraphicFramePr>
          <p:cNvPr id="8" name="Chart">
            <a:extLst xmlns:a="http://schemas.openxmlformats.org/drawingml/2006/main">
              <a:ext uri="{FF2B5EF4-FFF2-40B4-BE49-F238E27FC236}">
                <a16:creationId xmlns:a16="http://schemas.microsoft.com/office/drawing/2014/main" id="{A5477066-A88D-457D-BC7E-5224DCFED390}"/>
              </a:ext>
            </a:extLst>
          </p:cNvPr>
          <p:cNvGraphicFramePr/>
          <p:nvPr/>
        </p:nvGraphicFramePr>
        <p:xfrm>
          <a:off xmlns:a="http://schemas.openxmlformats.org/drawingml/2006/main" x="685800" y="3867150"/>
          <a:ext xmlns:a="http://schemas.openxmlformats.org/drawingml/2006/main" cx="5143500" cy="1828800"/>
        </p:xfrm>
        <a:graphic xmlns:a="http://schemas.openxmlformats.org/drawingml/2006/main">
          <a:graphicData uri="http://schemas.openxmlformats.org/drawingml/2006/chart">
            <c:chart xmlns:r="http://schemas.openxmlformats.org/officeDocument/2006/relationships" xmlns:c="http://schemas.openxmlformats.org/drawingml/2006/chart" r:id="Rfca8ecf74a7f45dc"/>
          </a:graphicData>
        </a:graphic>
      </p:graphicFrame>
      <p:sp>
        <p:nvSpPr>
          <p:cNvPr id="9" name="a-retenir">
            <a:extLst xmlns:a="http://schemas.openxmlformats.org/drawingml/2006/main">
              <a:ext uri="{FF2B5EF4-FFF2-40B4-BE49-F238E27FC236}">
                <a16:creationId xmlns:a16="http://schemas.microsoft.com/office/drawing/2014/main" id="{0BDD8A49-5514-4CFB-8F02-5ECD6A8BB7EB}"/>
              </a:ext>
            </a:extLst>
          </p:cNvPr>
          <p:cNvSpPr>
            <a:spLocks xmlns:a="http://schemas.openxmlformats.org/drawingml/2006/main" noGrp="1"/>
          </p:cNvSpPr>
          <p:nvPr/>
        </p:nvSpPr>
        <p:spPr>
          <a:xfrm xmlns:a="http://schemas.openxmlformats.org/drawingml/2006/main">
            <a:off x="685800" y="597217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985B24"/>
                </a:solidFill>
                <a:latin typeface="Arial"/>
                <a:ea typeface="Arial"/>
                <a:cs typeface="Arial"/>
              </a:defRPr>
            </a:defPPr>
            <a:lvl1pPr algn="l">
              <a:defRPr sz="1500" b="1">
                <a:solidFill>
                  <a:srgbClr val="985B24"/>
                </a:solidFill>
                <a:latin typeface="Arial"/>
                <a:ea typeface="Arial"/>
                <a:cs typeface="Arial"/>
              </a:defRPr>
            </a:lvl1pPr>
            <a:lvl2pPr algn="l">
              <a:defRPr sz="1500" b="1">
                <a:solidFill>
                  <a:srgbClr val="985B24"/>
                </a:solidFill>
                <a:latin typeface="Arial"/>
                <a:ea typeface="Arial"/>
                <a:cs typeface="Arial"/>
              </a:defRPr>
            </a:lvl2pPr>
            <a:lvl3pPr algn="l">
              <a:defRPr sz="1500" b="1">
                <a:solidFill>
                  <a:srgbClr val="985B24"/>
                </a:solidFill>
                <a:latin typeface="Arial"/>
                <a:ea typeface="Arial"/>
                <a:cs typeface="Arial"/>
              </a:defRPr>
            </a:lvl3pPr>
            <a:lvl4pPr algn="l">
              <a:defRPr sz="1500" b="1">
                <a:solidFill>
                  <a:srgbClr val="985B24"/>
                </a:solidFill>
                <a:latin typeface="Arial"/>
                <a:ea typeface="Arial"/>
                <a:cs typeface="Arial"/>
              </a:defRPr>
            </a:lvl4pPr>
            <a:lvl5pPr algn="l">
              <a:defRPr sz="1500" b="1">
                <a:solidFill>
                  <a:srgbClr val="985B24"/>
                </a:solidFill>
                <a:latin typeface="Arial"/>
                <a:ea typeface="Arial"/>
                <a:cs typeface="Arial"/>
              </a:defRPr>
            </a:lvl5pPr>
            <a:lvl6pPr algn="l">
              <a:defRPr sz="1500" b="1">
                <a:solidFill>
                  <a:srgbClr val="985B24"/>
                </a:solidFill>
                <a:latin typeface="Arial"/>
                <a:ea typeface="Arial"/>
                <a:cs typeface="Arial"/>
              </a:defRPr>
            </a:lvl6pPr>
            <a:lvl7pPr algn="l">
              <a:defRPr sz="1500" b="1">
                <a:solidFill>
                  <a:srgbClr val="985B24"/>
                </a:solidFill>
                <a:latin typeface="Arial"/>
                <a:ea typeface="Arial"/>
                <a:cs typeface="Arial"/>
              </a:defRPr>
            </a:lvl7pPr>
            <a:lvl8pPr algn="l">
              <a:defRPr sz="1500" b="1">
                <a:solidFill>
                  <a:srgbClr val="985B24"/>
                </a:solidFill>
                <a:latin typeface="Arial"/>
                <a:ea typeface="Arial"/>
                <a:cs typeface="Arial"/>
              </a:defRPr>
            </a:lvl8pPr>
            <a:lvl9pPr algn="l">
              <a:defRPr sz="1500" b="1">
                <a:solidFill>
                  <a:srgbClr val="985B24"/>
                </a:solidFill>
                <a:latin typeface="Arial"/>
                <a:ea typeface="Arial"/>
                <a:cs typeface="Arial"/>
              </a:defRPr>
            </a:lvl9pPr>
          </a:lstStyle>
          <a:p xmlns:a="http://schemas.openxmlformats.org/drawingml/2006/main">
            <a:pPr algn="l">
              <a:defRPr sz="1500" b="1">
                <a:solidFill>
                  <a:srgbClr val="985B24"/>
                </a:solidFill>
                <a:latin typeface="Arial"/>
                <a:ea typeface="Arial"/>
                <a:cs typeface="Arial"/>
              </a:defRPr>
            </a:pPr>
            <a:r>
              <a:rPr sz="1500" b="1">
                <a:solidFill>
                  <a:srgbClr val="985B24"/>
                </a:solidFill>
                <a:latin typeface="Arial"/>
                <a:ea typeface="Arial"/>
                <a:cs typeface="Arial"/>
              </a:rPr>
              <a:t>CA simulé : 5 158 988,17 € du 21/09 au 20/10/2026, hors annulations et remboursements.</a:t>
            </a:r>
          </a:p>
        </p:txBody>
      </p:sp>
      <p:sp>
        <p:nvSpPr>
          <p:cNvPr id="10" name="intervenant">
            <a:extLst xmlns:a="http://schemas.openxmlformats.org/drawingml/2006/main">
              <a:ext uri="{FF2B5EF4-FFF2-40B4-BE49-F238E27FC236}">
                <a16:creationId xmlns:a16="http://schemas.microsoft.com/office/drawing/2014/main" id="{30D6795C-8B93-4AB1-A56A-887FAE795D29}"/>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1:40</a:t>
            </a:r>
          </a:p>
        </p:txBody>
      </p:sp>
      <p:sp>
        <p:nvSpPr>
          <p:cNvPr id="11" name="numero">
            <a:extLst xmlns:a="http://schemas.openxmlformats.org/drawingml/2006/main">
              <a:ext uri="{FF2B5EF4-FFF2-40B4-BE49-F238E27FC236}">
                <a16:creationId xmlns:a16="http://schemas.microsoft.com/office/drawing/2014/main" id="{2F3DD9BF-0704-488B-AA2A-4C62812824DD}"/>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08 / 09</a:t>
            </a:r>
          </a:p>
        </p:txBody>
      </p:sp>
      <p:pic>
        <p:nvPicPr>
          <p:cNvPr id="12" name="">
            <a:extLst xmlns:a="http://schemas.openxmlformats.org/drawingml/2006/main">
              <a:ext uri="{FF2B5EF4-FFF2-40B4-BE49-F238E27FC236}">
                <a16:creationId xmlns:a16="http://schemas.microsoft.com/office/drawing/2014/main" id="{893E6969-9610-4339-98FC-44D3D042E69F}"/>
              </a:ext>
            </a:extLst>
          </p:cNvPr>
          <p:cNvPicPr>
            <a:picLocks xmlns:a="http://schemas.openxmlformats.org/drawingml/2006/main" noChangeAspect="1"/>
          </p:cNvPicPr>
          <p:nvPr/>
        </p:nvPicPr>
        <p:blipFill>
          <a:blip xmlns:r="http://schemas.openxmlformats.org/officeDocument/2006/relationships" xmlns:a="http://schemas.openxmlformats.org/drawingml/2006/main" r:embed="R946d406d04fe4c41"/>
          <a:srcRect xmlns:a="http://schemas.openxmlformats.org/drawingml/2006/main" l="2500" t="10500" r="3000" b="1000"/>
          <a:stretch xmlns:a="http://schemas.openxmlformats.org/drawingml/2006/main"/>
        </p:blipFill>
        <p:spPr>
          <a:xfrm xmlns:a="http://schemas.openxmlformats.org/drawingml/2006/main">
            <a:off x="6229350" y="1571625"/>
            <a:ext cx="5276850" cy="4305300"/>
          </a:xfrm>
          <a:prstGeom xmlns:a="http://schemas.openxmlformats.org/drawingml/2006/main" prst="rect">
            <a:avLst/>
          </a:prstGeom>
        </p:spPr>
      </p:pic>
      <p:sp>
        <p:nvSpPr>
          <p:cNvPr id="13" name="capture-date">
            <a:extLst xmlns:a="http://schemas.openxmlformats.org/drawingml/2006/main">
              <a:ext uri="{FF2B5EF4-FFF2-40B4-BE49-F238E27FC236}">
                <a16:creationId xmlns:a16="http://schemas.microsoft.com/office/drawing/2014/main" id="{36503353-E120-4DF4-ACC3-C657A187019D}"/>
              </a:ext>
            </a:extLst>
          </p:cNvPr>
          <p:cNvSpPr>
            <a:spLocks xmlns:a="http://schemas.openxmlformats.org/drawingml/2006/main" noGrp="1"/>
          </p:cNvSpPr>
          <p:nvPr/>
        </p:nvSpPr>
        <p:spPr>
          <a:xfrm xmlns:a="http://schemas.openxmlformats.org/drawingml/2006/main">
            <a:off x="6229350" y="5724525"/>
            <a:ext cx="527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defRPr sz="1350">
                <a:solidFill>
                  <a:srgbClr val="587080"/>
                </a:solidFill>
                <a:latin typeface="Arial"/>
                <a:ea typeface="Arial"/>
                <a:cs typeface="Arial"/>
              </a:defRPr>
            </a:defPPr>
            <a:lvl1pPr>
              <a:defRPr sz="1350">
                <a:solidFill>
                  <a:srgbClr val="587080"/>
                </a:solidFill>
                <a:latin typeface="Arial"/>
                <a:ea typeface="Arial"/>
                <a:cs typeface="Arial"/>
              </a:defRPr>
            </a:lvl1pPr>
            <a:lvl2pPr>
              <a:defRPr sz="1350">
                <a:solidFill>
                  <a:srgbClr val="587080"/>
                </a:solidFill>
                <a:latin typeface="Arial"/>
                <a:ea typeface="Arial"/>
                <a:cs typeface="Arial"/>
              </a:defRPr>
            </a:lvl2pPr>
            <a:lvl3pPr>
              <a:defRPr sz="1350">
                <a:solidFill>
                  <a:srgbClr val="587080"/>
                </a:solidFill>
                <a:latin typeface="Arial"/>
                <a:ea typeface="Arial"/>
                <a:cs typeface="Arial"/>
              </a:defRPr>
            </a:lvl3pPr>
            <a:lvl4pPr>
              <a:defRPr sz="1350">
                <a:solidFill>
                  <a:srgbClr val="587080"/>
                </a:solidFill>
                <a:latin typeface="Arial"/>
                <a:ea typeface="Arial"/>
                <a:cs typeface="Arial"/>
              </a:defRPr>
            </a:lvl4pPr>
            <a:lvl5pPr>
              <a:defRPr sz="1350">
                <a:solidFill>
                  <a:srgbClr val="587080"/>
                </a:solidFill>
                <a:latin typeface="Arial"/>
                <a:ea typeface="Arial"/>
                <a:cs typeface="Arial"/>
              </a:defRPr>
            </a:lvl5pPr>
            <a:lvl6pPr>
              <a:defRPr sz="1350">
                <a:solidFill>
                  <a:srgbClr val="587080"/>
                </a:solidFill>
                <a:latin typeface="Arial"/>
                <a:ea typeface="Arial"/>
                <a:cs typeface="Arial"/>
              </a:defRPr>
            </a:lvl6pPr>
            <a:lvl7pPr>
              <a:defRPr sz="1350">
                <a:solidFill>
                  <a:srgbClr val="587080"/>
                </a:solidFill>
                <a:latin typeface="Arial"/>
                <a:ea typeface="Arial"/>
                <a:cs typeface="Arial"/>
              </a:defRPr>
            </a:lvl7pPr>
            <a:lvl8pPr>
              <a:defRPr sz="1350">
                <a:solidFill>
                  <a:srgbClr val="587080"/>
                </a:solidFill>
                <a:latin typeface="Arial"/>
                <a:ea typeface="Arial"/>
                <a:cs typeface="Arial"/>
              </a:defRPr>
            </a:lvl8pPr>
            <a:lvl9pPr>
              <a:defRPr sz="1350">
                <a:solidFill>
                  <a:srgbClr val="587080"/>
                </a:solidFill>
                <a:latin typeface="Arial"/>
                <a:ea typeface="Arial"/>
                <a:cs typeface="Arial"/>
              </a:defRPr>
            </a:lvl9pPr>
          </a:lstStyle>
          <a:p xmlns:a="http://schemas.openxmlformats.org/drawingml/2006/main">
            <a:pPr>
              <a:defRPr sz="1350">
                <a:solidFill>
                  <a:srgbClr val="587080"/>
                </a:solidFill>
                <a:latin typeface="Arial"/>
                <a:ea typeface="Arial"/>
                <a:cs typeface="Arial"/>
              </a:defRPr>
            </a:pPr>
            <a:r>
              <a:rPr sz="1350">
                <a:solidFill>
                  <a:srgbClr val="587080"/>
                </a:solidFill>
                <a:latin typeface="Arial"/>
                <a:ea typeface="Arial"/>
                <a:cs typeface="Arial"/>
              </a:rPr>
              <a:t>Capture Metabase du 22/10/2026</a:t>
            </a:r>
          </a:p>
        </p:txBody>
      </p:sp>
    </p:spTree>
    <p:extLst>
      <p:ext uri="{BB962C8B-B14F-4D97-AF65-F5344CB8AC3E}">
        <p14:creationId xmlns:p14="http://schemas.microsoft.com/office/powerpoint/2010/main" val="1526095303"/>
      </p:ext>
    </p:extLst>
  </p:cSld>
</p:sld>
</file>

<file path=ppt/slides/slide9.xml><?xml version="1.0" encoding="utf-8"?>
<p:sld xmlns:p="http://schemas.openxmlformats.org/presentationml/2006/main">
  <p:cSld>
    <p:bg>
      <p:bgPr>
        <a:solidFill xmlns:a="http://schemas.openxmlformats.org/drawingml/2006/main">
          <a:srgbClr val="F3F6FA"/>
        </a:solidFill>
      </p:bgPr>
    </p:bg>
    <p:spTree>
      <p:nvGrpSpPr>
        <p:cNvPr id="1" name=""/>
        <p:cNvGrpSpPr/>
        <p:nvPr/>
      </p:nvGrpSpPr>
      <p:grpSpPr>
        <a:xfrm xmlns:a="http://schemas.openxmlformats.org/drawingml/2006/main"/>
      </p:grpSpPr>
      <p:sp>
        <p:nvSpPr>
          <p:cNvPr id="2" name="titre">
            <a:extLst xmlns:a="http://schemas.openxmlformats.org/drawingml/2006/main">
              <a:ext uri="{FF2B5EF4-FFF2-40B4-BE49-F238E27FC236}">
                <a16:creationId xmlns:a16="http://schemas.microsoft.com/office/drawing/2014/main" id="{76D29039-A3B8-47E7-8E84-8DD7BA825A50}"/>
              </a:ext>
            </a:extLst>
          </p:cNvPr>
          <p:cNvSpPr>
            <a:spLocks xmlns:a="http://schemas.openxmlformats.org/drawingml/2006/main" noGrp="1"/>
          </p:cNvSpPr>
          <p:nvPr/>
        </p:nvSpPr>
        <p:spPr>
          <a:xfrm xmlns:a="http://schemas.openxmlformats.org/drawingml/2006/main">
            <a:off x="685800" y="590550"/>
            <a:ext cx="1000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63348"/>
                </a:solidFill>
                <a:latin typeface="Arial"/>
                <a:ea typeface="Arial"/>
                <a:cs typeface="Arial"/>
              </a:defRPr>
            </a:defPPr>
            <a:lvl1pPr algn="l">
              <a:defRPr sz="3300" b="1">
                <a:solidFill>
                  <a:srgbClr val="163348"/>
                </a:solidFill>
                <a:latin typeface="Arial"/>
                <a:ea typeface="Arial"/>
                <a:cs typeface="Arial"/>
              </a:defRPr>
            </a:lvl1pPr>
            <a:lvl2pPr algn="l">
              <a:defRPr sz="3300" b="1">
                <a:solidFill>
                  <a:srgbClr val="163348"/>
                </a:solidFill>
                <a:latin typeface="Arial"/>
                <a:ea typeface="Arial"/>
                <a:cs typeface="Arial"/>
              </a:defRPr>
            </a:lvl2pPr>
            <a:lvl3pPr algn="l">
              <a:defRPr sz="3300" b="1">
                <a:solidFill>
                  <a:srgbClr val="163348"/>
                </a:solidFill>
                <a:latin typeface="Arial"/>
                <a:ea typeface="Arial"/>
                <a:cs typeface="Arial"/>
              </a:defRPr>
            </a:lvl3pPr>
            <a:lvl4pPr algn="l">
              <a:defRPr sz="3300" b="1">
                <a:solidFill>
                  <a:srgbClr val="163348"/>
                </a:solidFill>
                <a:latin typeface="Arial"/>
                <a:ea typeface="Arial"/>
                <a:cs typeface="Arial"/>
              </a:defRPr>
            </a:lvl4pPr>
            <a:lvl5pPr algn="l">
              <a:defRPr sz="3300" b="1">
                <a:solidFill>
                  <a:srgbClr val="163348"/>
                </a:solidFill>
                <a:latin typeface="Arial"/>
                <a:ea typeface="Arial"/>
                <a:cs typeface="Arial"/>
              </a:defRPr>
            </a:lvl5pPr>
            <a:lvl6pPr algn="l">
              <a:defRPr sz="3300" b="1">
                <a:solidFill>
                  <a:srgbClr val="163348"/>
                </a:solidFill>
                <a:latin typeface="Arial"/>
                <a:ea typeface="Arial"/>
                <a:cs typeface="Arial"/>
              </a:defRPr>
            </a:lvl6pPr>
            <a:lvl7pPr algn="l">
              <a:defRPr sz="3300" b="1">
                <a:solidFill>
                  <a:srgbClr val="163348"/>
                </a:solidFill>
                <a:latin typeface="Arial"/>
                <a:ea typeface="Arial"/>
                <a:cs typeface="Arial"/>
              </a:defRPr>
            </a:lvl7pPr>
            <a:lvl8pPr algn="l">
              <a:defRPr sz="3300" b="1">
                <a:solidFill>
                  <a:srgbClr val="163348"/>
                </a:solidFill>
                <a:latin typeface="Arial"/>
                <a:ea typeface="Arial"/>
                <a:cs typeface="Arial"/>
              </a:defRPr>
            </a:lvl8pPr>
            <a:lvl9pPr algn="l">
              <a:defRPr sz="3300" b="1">
                <a:solidFill>
                  <a:srgbClr val="163348"/>
                </a:solidFill>
                <a:latin typeface="Arial"/>
                <a:ea typeface="Arial"/>
                <a:cs typeface="Arial"/>
              </a:defRPr>
            </a:lvl9pPr>
          </a:lstStyle>
          <a:p xmlns:a="http://schemas.openxmlformats.org/drawingml/2006/main">
            <a:pPr algn="l">
              <a:defRPr sz="3300" b="1">
                <a:solidFill>
                  <a:srgbClr val="163348"/>
                </a:solidFill>
                <a:latin typeface="Arial"/>
                <a:ea typeface="Arial"/>
                <a:cs typeface="Arial"/>
              </a:defRPr>
            </a:pPr>
            <a:r>
              <a:rPr sz="3300" b="1">
                <a:solidFill>
                  <a:srgbClr val="163348"/>
                </a:solidFill>
                <a:latin typeface="Arial"/>
                <a:ea typeface="Arial"/>
                <a:cs typeface="Arial"/>
              </a:rPr>
              <a:t>Bilan et suite du projet</a:t>
            </a:r>
          </a:p>
        </p:txBody>
      </p:sp>
      <p:sp>
        <p:nvSpPr>
          <p:cNvPr id="3" name="bilan-label">
            <a:extLst xmlns:a="http://schemas.openxmlformats.org/drawingml/2006/main">
              <a:ext uri="{FF2B5EF4-FFF2-40B4-BE49-F238E27FC236}">
                <a16:creationId xmlns:a16="http://schemas.microsoft.com/office/drawing/2014/main" id="{132DD6EA-3156-4BCF-9E96-A65CBA1D7F0E}"/>
              </a:ext>
            </a:extLst>
          </p:cNvPr>
          <p:cNvSpPr>
            <a:spLocks xmlns:a="http://schemas.openxmlformats.org/drawingml/2006/main" noGrp="1"/>
          </p:cNvSpPr>
          <p:nvPr/>
        </p:nvSpPr>
        <p:spPr>
          <a:xfrm xmlns:a="http://schemas.openxmlformats.org/drawingml/2006/main">
            <a:off x="685800" y="1914525"/>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087D79"/>
                </a:solidFill>
                <a:latin typeface="Arial"/>
                <a:ea typeface="Arial"/>
                <a:cs typeface="Arial"/>
              </a:defRPr>
            </a:defPPr>
            <a:lvl1pPr algn="l">
              <a:defRPr sz="2475" b="1">
                <a:solidFill>
                  <a:srgbClr val="087D79"/>
                </a:solidFill>
                <a:latin typeface="Arial"/>
                <a:ea typeface="Arial"/>
                <a:cs typeface="Arial"/>
              </a:defRPr>
            </a:lvl1pPr>
            <a:lvl2pPr algn="l">
              <a:defRPr sz="2475" b="1">
                <a:solidFill>
                  <a:srgbClr val="087D79"/>
                </a:solidFill>
                <a:latin typeface="Arial"/>
                <a:ea typeface="Arial"/>
                <a:cs typeface="Arial"/>
              </a:defRPr>
            </a:lvl2pPr>
            <a:lvl3pPr algn="l">
              <a:defRPr sz="2475" b="1">
                <a:solidFill>
                  <a:srgbClr val="087D79"/>
                </a:solidFill>
                <a:latin typeface="Arial"/>
                <a:ea typeface="Arial"/>
                <a:cs typeface="Arial"/>
              </a:defRPr>
            </a:lvl3pPr>
            <a:lvl4pPr algn="l">
              <a:defRPr sz="2475" b="1">
                <a:solidFill>
                  <a:srgbClr val="087D79"/>
                </a:solidFill>
                <a:latin typeface="Arial"/>
                <a:ea typeface="Arial"/>
                <a:cs typeface="Arial"/>
              </a:defRPr>
            </a:lvl4pPr>
            <a:lvl5pPr algn="l">
              <a:defRPr sz="2475" b="1">
                <a:solidFill>
                  <a:srgbClr val="087D79"/>
                </a:solidFill>
                <a:latin typeface="Arial"/>
                <a:ea typeface="Arial"/>
                <a:cs typeface="Arial"/>
              </a:defRPr>
            </a:lvl5pPr>
            <a:lvl6pPr algn="l">
              <a:defRPr sz="2475" b="1">
                <a:solidFill>
                  <a:srgbClr val="087D79"/>
                </a:solidFill>
                <a:latin typeface="Arial"/>
                <a:ea typeface="Arial"/>
                <a:cs typeface="Arial"/>
              </a:defRPr>
            </a:lvl6pPr>
            <a:lvl7pPr algn="l">
              <a:defRPr sz="2475" b="1">
                <a:solidFill>
                  <a:srgbClr val="087D79"/>
                </a:solidFill>
                <a:latin typeface="Arial"/>
                <a:ea typeface="Arial"/>
                <a:cs typeface="Arial"/>
              </a:defRPr>
            </a:lvl7pPr>
            <a:lvl8pPr algn="l">
              <a:defRPr sz="2475" b="1">
                <a:solidFill>
                  <a:srgbClr val="087D79"/>
                </a:solidFill>
                <a:latin typeface="Arial"/>
                <a:ea typeface="Arial"/>
                <a:cs typeface="Arial"/>
              </a:defRPr>
            </a:lvl8pPr>
            <a:lvl9pPr algn="l">
              <a:defRPr sz="2475" b="1">
                <a:solidFill>
                  <a:srgbClr val="087D79"/>
                </a:solidFill>
                <a:latin typeface="Arial"/>
                <a:ea typeface="Arial"/>
                <a:cs typeface="Arial"/>
              </a:defRPr>
            </a:lvl9pPr>
          </a:lstStyle>
          <a:p xmlns:a="http://schemas.openxmlformats.org/drawingml/2006/main">
            <a:pPr algn="l">
              <a:defRPr sz="2475" b="1">
                <a:solidFill>
                  <a:srgbClr val="087D79"/>
                </a:solidFill>
                <a:latin typeface="Arial"/>
                <a:ea typeface="Arial"/>
                <a:cs typeface="Arial"/>
              </a:defRPr>
            </a:pPr>
            <a:r>
              <a:rPr sz="2475" b="1">
                <a:solidFill>
                  <a:srgbClr val="087D79"/>
                </a:solidFill>
                <a:latin typeface="Arial"/>
                <a:ea typeface="Arial"/>
                <a:cs typeface="Arial"/>
              </a:rPr>
              <a:t>Ce qui fonctionne</a:t>
            </a:r>
          </a:p>
        </p:txBody>
      </p:sp>
      <p:sp>
        <p:nvSpPr>
          <p:cNvPr id="4" name="bilan-1">
            <a:extLst xmlns:a="http://schemas.openxmlformats.org/drawingml/2006/main">
              <a:ext uri="{FF2B5EF4-FFF2-40B4-BE49-F238E27FC236}">
                <a16:creationId xmlns:a16="http://schemas.microsoft.com/office/drawing/2014/main" id="{FC681A3C-FD48-4AC8-85B7-687DBD5091F0}"/>
              </a:ext>
            </a:extLst>
          </p:cNvPr>
          <p:cNvSpPr>
            <a:spLocks xmlns:a="http://schemas.openxmlformats.org/drawingml/2006/main" noGrp="1"/>
          </p:cNvSpPr>
          <p:nvPr/>
        </p:nvSpPr>
        <p:spPr>
          <a:xfrm xmlns:a="http://schemas.openxmlformats.org/drawingml/2006/main">
            <a:off x="685800" y="2762250"/>
            <a:ext cx="4905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163348"/>
                </a:solidFill>
                <a:latin typeface="Arial"/>
                <a:ea typeface="Arial"/>
                <a:cs typeface="Arial"/>
              </a:defRPr>
            </a:defPPr>
            <a:lvl1pPr algn="l">
              <a:defRPr sz="2475" b="1">
                <a:solidFill>
                  <a:srgbClr val="163348"/>
                </a:solidFill>
                <a:latin typeface="Arial"/>
                <a:ea typeface="Arial"/>
                <a:cs typeface="Arial"/>
              </a:defRPr>
            </a:lvl1pPr>
            <a:lvl2pPr algn="l">
              <a:defRPr sz="2475" b="1">
                <a:solidFill>
                  <a:srgbClr val="163348"/>
                </a:solidFill>
                <a:latin typeface="Arial"/>
                <a:ea typeface="Arial"/>
                <a:cs typeface="Arial"/>
              </a:defRPr>
            </a:lvl2pPr>
            <a:lvl3pPr algn="l">
              <a:defRPr sz="2475" b="1">
                <a:solidFill>
                  <a:srgbClr val="163348"/>
                </a:solidFill>
                <a:latin typeface="Arial"/>
                <a:ea typeface="Arial"/>
                <a:cs typeface="Arial"/>
              </a:defRPr>
            </a:lvl3pPr>
            <a:lvl4pPr algn="l">
              <a:defRPr sz="2475" b="1">
                <a:solidFill>
                  <a:srgbClr val="163348"/>
                </a:solidFill>
                <a:latin typeface="Arial"/>
                <a:ea typeface="Arial"/>
                <a:cs typeface="Arial"/>
              </a:defRPr>
            </a:lvl4pPr>
            <a:lvl5pPr algn="l">
              <a:defRPr sz="2475" b="1">
                <a:solidFill>
                  <a:srgbClr val="163348"/>
                </a:solidFill>
                <a:latin typeface="Arial"/>
                <a:ea typeface="Arial"/>
                <a:cs typeface="Arial"/>
              </a:defRPr>
            </a:lvl5pPr>
            <a:lvl6pPr algn="l">
              <a:defRPr sz="2475" b="1">
                <a:solidFill>
                  <a:srgbClr val="163348"/>
                </a:solidFill>
                <a:latin typeface="Arial"/>
                <a:ea typeface="Arial"/>
                <a:cs typeface="Arial"/>
              </a:defRPr>
            </a:lvl6pPr>
            <a:lvl7pPr algn="l">
              <a:defRPr sz="2475" b="1">
                <a:solidFill>
                  <a:srgbClr val="163348"/>
                </a:solidFill>
                <a:latin typeface="Arial"/>
                <a:ea typeface="Arial"/>
                <a:cs typeface="Arial"/>
              </a:defRPr>
            </a:lvl7pPr>
            <a:lvl8pPr algn="l">
              <a:defRPr sz="2475" b="1">
                <a:solidFill>
                  <a:srgbClr val="163348"/>
                </a:solidFill>
                <a:latin typeface="Arial"/>
                <a:ea typeface="Arial"/>
                <a:cs typeface="Arial"/>
              </a:defRPr>
            </a:lvl8pPr>
            <a:lvl9pPr algn="l">
              <a:defRPr sz="2475" b="1">
                <a:solidFill>
                  <a:srgbClr val="163348"/>
                </a:solidFill>
                <a:latin typeface="Arial"/>
                <a:ea typeface="Arial"/>
                <a:cs typeface="Arial"/>
              </a:defRPr>
            </a:lvl9pPr>
          </a:lstStyle>
          <a:p xmlns:a="http://schemas.openxmlformats.org/drawingml/2006/main">
            <a:pPr algn="l">
              <a:defRPr sz="2475" b="1">
                <a:solidFill>
                  <a:srgbClr val="163348"/>
                </a:solidFill>
                <a:latin typeface="Arial"/>
                <a:ea typeface="Arial"/>
                <a:cs typeface="Arial"/>
              </a:defRPr>
            </a:pPr>
            <a:r>
              <a:rPr sz="2475" b="1">
                <a:solidFill>
                  <a:srgbClr val="163348"/>
                </a:solidFill>
                <a:latin typeface="Arial"/>
                <a:ea typeface="Arial"/>
                <a:cs typeface="Arial"/>
              </a:rPr>
              <a:t>Un parcours complet,</a:t>
            </a:r>
          </a:p>
          <a:p xmlns:a="http://schemas.openxmlformats.org/drawingml/2006/main">
            <a:pPr algn="l">
              <a:defRPr sz="2475" b="1">
                <a:solidFill>
                  <a:srgbClr val="163348"/>
                </a:solidFill>
                <a:latin typeface="Arial"/>
                <a:ea typeface="Arial"/>
                <a:cs typeface="Arial"/>
              </a:defRPr>
            </a:pPr>
            <a:r>
              <a:rPr sz="2475" b="1">
                <a:solidFill>
                  <a:srgbClr val="163348"/>
                </a:solidFill>
                <a:latin typeface="Arial"/>
                <a:ea typeface="Arial"/>
                <a:cs typeface="Arial"/>
              </a:rPr>
              <a:t>de l’API aux dashboards</a:t>
            </a:r>
          </a:p>
        </p:txBody>
      </p:sp>
      <p:sp>
        <p:nvSpPr>
          <p:cNvPr id="5" name="bilan-2">
            <a:extLst xmlns:a="http://schemas.openxmlformats.org/drawingml/2006/main">
              <a:ext uri="{FF2B5EF4-FFF2-40B4-BE49-F238E27FC236}">
                <a16:creationId xmlns:a16="http://schemas.microsoft.com/office/drawing/2014/main" id="{67F3645C-29AF-4216-89C5-BC3085EA52C3}"/>
              </a:ext>
            </a:extLst>
          </p:cNvPr>
          <p:cNvSpPr>
            <a:spLocks xmlns:a="http://schemas.openxmlformats.org/drawingml/2006/main" noGrp="1"/>
          </p:cNvSpPr>
          <p:nvPr/>
        </p:nvSpPr>
        <p:spPr>
          <a:xfrm xmlns:a="http://schemas.openxmlformats.org/drawingml/2006/main">
            <a:off x="685800" y="4171950"/>
            <a:ext cx="4905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63348"/>
                </a:solidFill>
                <a:latin typeface="Arial"/>
                <a:ea typeface="Arial"/>
                <a:cs typeface="Arial"/>
              </a:defRPr>
            </a:defPPr>
            <a:lvl1pPr algn="l">
              <a:defRPr sz="2325" b="0">
                <a:solidFill>
                  <a:srgbClr val="163348"/>
                </a:solidFill>
                <a:latin typeface="Arial"/>
                <a:ea typeface="Arial"/>
                <a:cs typeface="Arial"/>
              </a:defRPr>
            </a:lvl1pPr>
            <a:lvl2pPr algn="l">
              <a:defRPr sz="2325" b="0">
                <a:solidFill>
                  <a:srgbClr val="163348"/>
                </a:solidFill>
                <a:latin typeface="Arial"/>
                <a:ea typeface="Arial"/>
                <a:cs typeface="Arial"/>
              </a:defRPr>
            </a:lvl2pPr>
            <a:lvl3pPr algn="l">
              <a:defRPr sz="2325" b="0">
                <a:solidFill>
                  <a:srgbClr val="163348"/>
                </a:solidFill>
                <a:latin typeface="Arial"/>
                <a:ea typeface="Arial"/>
                <a:cs typeface="Arial"/>
              </a:defRPr>
            </a:lvl3pPr>
            <a:lvl4pPr algn="l">
              <a:defRPr sz="2325" b="0">
                <a:solidFill>
                  <a:srgbClr val="163348"/>
                </a:solidFill>
                <a:latin typeface="Arial"/>
                <a:ea typeface="Arial"/>
                <a:cs typeface="Arial"/>
              </a:defRPr>
            </a:lvl4pPr>
            <a:lvl5pPr algn="l">
              <a:defRPr sz="2325" b="0">
                <a:solidFill>
                  <a:srgbClr val="163348"/>
                </a:solidFill>
                <a:latin typeface="Arial"/>
                <a:ea typeface="Arial"/>
                <a:cs typeface="Arial"/>
              </a:defRPr>
            </a:lvl5pPr>
            <a:lvl6pPr algn="l">
              <a:defRPr sz="2325" b="0">
                <a:solidFill>
                  <a:srgbClr val="163348"/>
                </a:solidFill>
                <a:latin typeface="Arial"/>
                <a:ea typeface="Arial"/>
                <a:cs typeface="Arial"/>
              </a:defRPr>
            </a:lvl6pPr>
            <a:lvl7pPr algn="l">
              <a:defRPr sz="2325" b="0">
                <a:solidFill>
                  <a:srgbClr val="163348"/>
                </a:solidFill>
                <a:latin typeface="Arial"/>
                <a:ea typeface="Arial"/>
                <a:cs typeface="Arial"/>
              </a:defRPr>
            </a:lvl7pPr>
            <a:lvl8pPr algn="l">
              <a:defRPr sz="2325" b="0">
                <a:solidFill>
                  <a:srgbClr val="163348"/>
                </a:solidFill>
                <a:latin typeface="Arial"/>
                <a:ea typeface="Arial"/>
                <a:cs typeface="Arial"/>
              </a:defRPr>
            </a:lvl8pPr>
            <a:lvl9pPr algn="l">
              <a:defRPr sz="2325" b="0">
                <a:solidFill>
                  <a:srgbClr val="163348"/>
                </a:solidFill>
                <a:latin typeface="Arial"/>
                <a:ea typeface="Arial"/>
                <a:cs typeface="Arial"/>
              </a:defRPr>
            </a:lvl9pPr>
          </a:lstStyle>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Des relances</a:t>
            </a:r>
          </a:p>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sans doublons</a:t>
            </a:r>
          </a:p>
        </p:txBody>
      </p:sp>
      <p:sp>
        <p:nvSpPr>
          <p:cNvPr id="6" name="suite-label">
            <a:extLst xmlns:a="http://schemas.openxmlformats.org/drawingml/2006/main">
              <a:ext uri="{FF2B5EF4-FFF2-40B4-BE49-F238E27FC236}">
                <a16:creationId xmlns:a16="http://schemas.microsoft.com/office/drawing/2014/main" id="{A50BF3D6-75C8-4E00-90B8-87687FFFA220}"/>
              </a:ext>
            </a:extLst>
          </p:cNvPr>
          <p:cNvSpPr>
            <a:spLocks xmlns:a="http://schemas.openxmlformats.org/drawingml/2006/main" noGrp="1"/>
          </p:cNvSpPr>
          <p:nvPr/>
        </p:nvSpPr>
        <p:spPr>
          <a:xfrm xmlns:a="http://schemas.openxmlformats.org/drawingml/2006/main">
            <a:off x="6572250" y="1914525"/>
            <a:ext cx="4933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75" b="1">
                <a:solidFill>
                  <a:srgbClr val="A96322"/>
                </a:solidFill>
                <a:latin typeface="Arial"/>
                <a:ea typeface="Arial"/>
                <a:cs typeface="Arial"/>
              </a:defRPr>
            </a:defPPr>
            <a:lvl1pPr algn="l">
              <a:defRPr sz="2475" b="1">
                <a:solidFill>
                  <a:srgbClr val="A96322"/>
                </a:solidFill>
                <a:latin typeface="Arial"/>
                <a:ea typeface="Arial"/>
                <a:cs typeface="Arial"/>
              </a:defRPr>
            </a:lvl1pPr>
            <a:lvl2pPr algn="l">
              <a:defRPr sz="2475" b="1">
                <a:solidFill>
                  <a:srgbClr val="A96322"/>
                </a:solidFill>
                <a:latin typeface="Arial"/>
                <a:ea typeface="Arial"/>
                <a:cs typeface="Arial"/>
              </a:defRPr>
            </a:lvl2pPr>
            <a:lvl3pPr algn="l">
              <a:defRPr sz="2475" b="1">
                <a:solidFill>
                  <a:srgbClr val="A96322"/>
                </a:solidFill>
                <a:latin typeface="Arial"/>
                <a:ea typeface="Arial"/>
                <a:cs typeface="Arial"/>
              </a:defRPr>
            </a:lvl3pPr>
            <a:lvl4pPr algn="l">
              <a:defRPr sz="2475" b="1">
                <a:solidFill>
                  <a:srgbClr val="A96322"/>
                </a:solidFill>
                <a:latin typeface="Arial"/>
                <a:ea typeface="Arial"/>
                <a:cs typeface="Arial"/>
              </a:defRPr>
            </a:lvl4pPr>
            <a:lvl5pPr algn="l">
              <a:defRPr sz="2475" b="1">
                <a:solidFill>
                  <a:srgbClr val="A96322"/>
                </a:solidFill>
                <a:latin typeface="Arial"/>
                <a:ea typeface="Arial"/>
                <a:cs typeface="Arial"/>
              </a:defRPr>
            </a:lvl5pPr>
            <a:lvl6pPr algn="l">
              <a:defRPr sz="2475" b="1">
                <a:solidFill>
                  <a:srgbClr val="A96322"/>
                </a:solidFill>
                <a:latin typeface="Arial"/>
                <a:ea typeface="Arial"/>
                <a:cs typeface="Arial"/>
              </a:defRPr>
            </a:lvl6pPr>
            <a:lvl7pPr algn="l">
              <a:defRPr sz="2475" b="1">
                <a:solidFill>
                  <a:srgbClr val="A96322"/>
                </a:solidFill>
                <a:latin typeface="Arial"/>
                <a:ea typeface="Arial"/>
                <a:cs typeface="Arial"/>
              </a:defRPr>
            </a:lvl7pPr>
            <a:lvl8pPr algn="l">
              <a:defRPr sz="2475" b="1">
                <a:solidFill>
                  <a:srgbClr val="A96322"/>
                </a:solidFill>
                <a:latin typeface="Arial"/>
                <a:ea typeface="Arial"/>
                <a:cs typeface="Arial"/>
              </a:defRPr>
            </a:lvl8pPr>
            <a:lvl9pPr algn="l">
              <a:defRPr sz="2475" b="1">
                <a:solidFill>
                  <a:srgbClr val="A96322"/>
                </a:solidFill>
                <a:latin typeface="Arial"/>
                <a:ea typeface="Arial"/>
                <a:cs typeface="Arial"/>
              </a:defRPr>
            </a:lvl9pPr>
          </a:lstStyle>
          <a:p xmlns:a="http://schemas.openxmlformats.org/drawingml/2006/main">
            <a:pPr algn="l">
              <a:defRPr sz="2475" b="1">
                <a:solidFill>
                  <a:srgbClr val="A96322"/>
                </a:solidFill>
                <a:latin typeface="Arial"/>
                <a:ea typeface="Arial"/>
                <a:cs typeface="Arial"/>
              </a:defRPr>
            </a:pPr>
            <a:r>
              <a:rPr sz="2475" b="1">
                <a:solidFill>
                  <a:srgbClr val="A96322"/>
                </a:solidFill>
                <a:latin typeface="Arial"/>
                <a:ea typeface="Arial"/>
                <a:cs typeface="Arial"/>
              </a:rPr>
              <a:t>La suite</a:t>
            </a:r>
          </a:p>
        </p:txBody>
      </p:sp>
      <p:sp>
        <p:nvSpPr>
          <p:cNvPr id="7" name="suite-1">
            <a:extLst xmlns:a="http://schemas.openxmlformats.org/drawingml/2006/main">
              <a:ext uri="{FF2B5EF4-FFF2-40B4-BE49-F238E27FC236}">
                <a16:creationId xmlns:a16="http://schemas.microsoft.com/office/drawing/2014/main" id="{6CE4C762-CBAF-48D4-91A7-92EABB9D066A}"/>
              </a:ext>
            </a:extLst>
          </p:cNvPr>
          <p:cNvSpPr>
            <a:spLocks xmlns:a="http://schemas.openxmlformats.org/drawingml/2006/main" noGrp="1"/>
          </p:cNvSpPr>
          <p:nvPr/>
        </p:nvSpPr>
        <p:spPr>
          <a:xfrm xmlns:a="http://schemas.openxmlformats.org/drawingml/2006/main">
            <a:off x="6572250" y="2762250"/>
            <a:ext cx="49339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163348"/>
                </a:solidFill>
                <a:latin typeface="Arial"/>
                <a:ea typeface="Arial"/>
                <a:cs typeface="Arial"/>
              </a:defRPr>
            </a:defPPr>
            <a:lvl1pPr algn="l">
              <a:defRPr sz="2400" b="0">
                <a:solidFill>
                  <a:srgbClr val="163348"/>
                </a:solidFill>
                <a:latin typeface="Arial"/>
                <a:ea typeface="Arial"/>
                <a:cs typeface="Arial"/>
              </a:defRPr>
            </a:lvl1pPr>
            <a:lvl2pPr algn="l">
              <a:defRPr sz="2400" b="0">
                <a:solidFill>
                  <a:srgbClr val="163348"/>
                </a:solidFill>
                <a:latin typeface="Arial"/>
                <a:ea typeface="Arial"/>
                <a:cs typeface="Arial"/>
              </a:defRPr>
            </a:lvl2pPr>
            <a:lvl3pPr algn="l">
              <a:defRPr sz="2400" b="0">
                <a:solidFill>
                  <a:srgbClr val="163348"/>
                </a:solidFill>
                <a:latin typeface="Arial"/>
                <a:ea typeface="Arial"/>
                <a:cs typeface="Arial"/>
              </a:defRPr>
            </a:lvl3pPr>
            <a:lvl4pPr algn="l">
              <a:defRPr sz="2400" b="0">
                <a:solidFill>
                  <a:srgbClr val="163348"/>
                </a:solidFill>
                <a:latin typeface="Arial"/>
                <a:ea typeface="Arial"/>
                <a:cs typeface="Arial"/>
              </a:defRPr>
            </a:lvl4pPr>
            <a:lvl5pPr algn="l">
              <a:defRPr sz="2400" b="0">
                <a:solidFill>
                  <a:srgbClr val="163348"/>
                </a:solidFill>
                <a:latin typeface="Arial"/>
                <a:ea typeface="Arial"/>
                <a:cs typeface="Arial"/>
              </a:defRPr>
            </a:lvl5pPr>
            <a:lvl6pPr algn="l">
              <a:defRPr sz="2400" b="0">
                <a:solidFill>
                  <a:srgbClr val="163348"/>
                </a:solidFill>
                <a:latin typeface="Arial"/>
                <a:ea typeface="Arial"/>
                <a:cs typeface="Arial"/>
              </a:defRPr>
            </a:lvl6pPr>
            <a:lvl7pPr algn="l">
              <a:defRPr sz="2400" b="0">
                <a:solidFill>
                  <a:srgbClr val="163348"/>
                </a:solidFill>
                <a:latin typeface="Arial"/>
                <a:ea typeface="Arial"/>
                <a:cs typeface="Arial"/>
              </a:defRPr>
            </a:lvl7pPr>
            <a:lvl8pPr algn="l">
              <a:defRPr sz="2400" b="0">
                <a:solidFill>
                  <a:srgbClr val="163348"/>
                </a:solidFill>
                <a:latin typeface="Arial"/>
                <a:ea typeface="Arial"/>
                <a:cs typeface="Arial"/>
              </a:defRPr>
            </a:lvl8pPr>
            <a:lvl9pPr algn="l">
              <a:defRPr sz="2400" b="0">
                <a:solidFill>
                  <a:srgbClr val="163348"/>
                </a:solidFill>
                <a:latin typeface="Arial"/>
                <a:ea typeface="Arial"/>
                <a:cs typeface="Arial"/>
              </a:defRPr>
            </a:lvl9pPr>
          </a:lstStyle>
          <a:p xmlns:a="http://schemas.openxmlformats.org/drawingml/2006/main">
            <a:pPr algn="l">
              <a:defRPr sz="2400" b="0">
                <a:solidFill>
                  <a:srgbClr val="163348"/>
                </a:solidFill>
                <a:latin typeface="Arial"/>
                <a:ea typeface="Arial"/>
                <a:cs typeface="Arial"/>
              </a:defRPr>
            </a:pPr>
            <a:r>
              <a:rPr sz="2400" b="0">
                <a:solidFill>
                  <a:srgbClr val="163348"/>
                </a:solidFill>
                <a:latin typeface="Arial"/>
                <a:ea typeface="Arial"/>
                <a:cs typeface="Arial"/>
              </a:rPr>
              <a:t>Contrôles qualité</a:t>
            </a:r>
          </a:p>
          <a:p xmlns:a="http://schemas.openxmlformats.org/drawingml/2006/main">
            <a:pPr algn="l">
              <a:defRPr sz="2400" b="0">
                <a:solidFill>
                  <a:srgbClr val="163348"/>
                </a:solidFill>
                <a:latin typeface="Arial"/>
                <a:ea typeface="Arial"/>
                <a:cs typeface="Arial"/>
              </a:defRPr>
            </a:pPr>
            <a:r>
              <a:rPr sz="2400" b="0">
                <a:solidFill>
                  <a:srgbClr val="163348"/>
                </a:solidFill>
                <a:latin typeface="Arial"/>
                <a:ea typeface="Arial"/>
                <a:cs typeface="Arial"/>
              </a:rPr>
              <a:t>et détection d’anomalies</a:t>
            </a:r>
          </a:p>
        </p:txBody>
      </p:sp>
      <p:sp>
        <p:nvSpPr>
          <p:cNvPr id="8" name="suite-2">
            <a:extLst xmlns:a="http://schemas.openxmlformats.org/drawingml/2006/main">
              <a:ext uri="{FF2B5EF4-FFF2-40B4-BE49-F238E27FC236}">
                <a16:creationId xmlns:a16="http://schemas.microsoft.com/office/drawing/2014/main" id="{D5C0DB1F-513D-412D-9FCA-BCAD79BD640A}"/>
              </a:ext>
            </a:extLst>
          </p:cNvPr>
          <p:cNvSpPr>
            <a:spLocks xmlns:a="http://schemas.openxmlformats.org/drawingml/2006/main" noGrp="1"/>
          </p:cNvSpPr>
          <p:nvPr/>
        </p:nvSpPr>
        <p:spPr>
          <a:xfrm xmlns:a="http://schemas.openxmlformats.org/drawingml/2006/main">
            <a:off x="6572250" y="4171950"/>
            <a:ext cx="4933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63348"/>
                </a:solidFill>
                <a:latin typeface="Arial"/>
                <a:ea typeface="Arial"/>
                <a:cs typeface="Arial"/>
              </a:defRPr>
            </a:defPPr>
            <a:lvl1pPr algn="l">
              <a:defRPr sz="2325" b="0">
                <a:solidFill>
                  <a:srgbClr val="163348"/>
                </a:solidFill>
                <a:latin typeface="Arial"/>
                <a:ea typeface="Arial"/>
                <a:cs typeface="Arial"/>
              </a:defRPr>
            </a:lvl1pPr>
            <a:lvl2pPr algn="l">
              <a:defRPr sz="2325" b="0">
                <a:solidFill>
                  <a:srgbClr val="163348"/>
                </a:solidFill>
                <a:latin typeface="Arial"/>
                <a:ea typeface="Arial"/>
                <a:cs typeface="Arial"/>
              </a:defRPr>
            </a:lvl2pPr>
            <a:lvl3pPr algn="l">
              <a:defRPr sz="2325" b="0">
                <a:solidFill>
                  <a:srgbClr val="163348"/>
                </a:solidFill>
                <a:latin typeface="Arial"/>
                <a:ea typeface="Arial"/>
                <a:cs typeface="Arial"/>
              </a:defRPr>
            </a:lvl3pPr>
            <a:lvl4pPr algn="l">
              <a:defRPr sz="2325" b="0">
                <a:solidFill>
                  <a:srgbClr val="163348"/>
                </a:solidFill>
                <a:latin typeface="Arial"/>
                <a:ea typeface="Arial"/>
                <a:cs typeface="Arial"/>
              </a:defRPr>
            </a:lvl4pPr>
            <a:lvl5pPr algn="l">
              <a:defRPr sz="2325" b="0">
                <a:solidFill>
                  <a:srgbClr val="163348"/>
                </a:solidFill>
                <a:latin typeface="Arial"/>
                <a:ea typeface="Arial"/>
                <a:cs typeface="Arial"/>
              </a:defRPr>
            </a:lvl5pPr>
            <a:lvl6pPr algn="l">
              <a:defRPr sz="2325" b="0">
                <a:solidFill>
                  <a:srgbClr val="163348"/>
                </a:solidFill>
                <a:latin typeface="Arial"/>
                <a:ea typeface="Arial"/>
                <a:cs typeface="Arial"/>
              </a:defRPr>
            </a:lvl6pPr>
            <a:lvl7pPr algn="l">
              <a:defRPr sz="2325" b="0">
                <a:solidFill>
                  <a:srgbClr val="163348"/>
                </a:solidFill>
                <a:latin typeface="Arial"/>
                <a:ea typeface="Arial"/>
                <a:cs typeface="Arial"/>
              </a:defRPr>
            </a:lvl7pPr>
            <a:lvl8pPr algn="l">
              <a:defRPr sz="2325" b="0">
                <a:solidFill>
                  <a:srgbClr val="163348"/>
                </a:solidFill>
                <a:latin typeface="Arial"/>
                <a:ea typeface="Arial"/>
                <a:cs typeface="Arial"/>
              </a:defRPr>
            </a:lvl8pPr>
            <a:lvl9pPr algn="l">
              <a:defRPr sz="2325" b="0">
                <a:solidFill>
                  <a:srgbClr val="163348"/>
                </a:solidFill>
                <a:latin typeface="Arial"/>
                <a:ea typeface="Arial"/>
                <a:cs typeface="Arial"/>
              </a:defRPr>
            </a:lvl9pPr>
          </a:lstStyle>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Exports Silver et Gold</a:t>
            </a:r>
          </a:p>
          <a:p xmlns:a="http://schemas.openxmlformats.org/drawingml/2006/main">
            <a:pPr algn="l">
              <a:defRPr sz="2325" b="0">
                <a:solidFill>
                  <a:srgbClr val="163348"/>
                </a:solidFill>
                <a:latin typeface="Arial"/>
                <a:ea typeface="Arial"/>
                <a:cs typeface="Arial"/>
              </a:defRPr>
            </a:pPr>
            <a:r>
              <a:rPr sz="2325" b="0">
                <a:solidFill>
                  <a:srgbClr val="163348"/>
                </a:solidFill>
                <a:latin typeface="Arial"/>
                <a:ea typeface="Arial"/>
                <a:cs typeface="Arial"/>
              </a:rPr>
              <a:t>dans MinIO</a:t>
            </a:r>
          </a:p>
        </p:txBody>
      </p:sp>
      <p:sp>
        <p:nvSpPr>
          <p:cNvPr id="9" name="a-retenir">
            <a:extLst xmlns:a="http://schemas.openxmlformats.org/drawingml/2006/main">
              <a:ext uri="{FF2B5EF4-FFF2-40B4-BE49-F238E27FC236}">
                <a16:creationId xmlns:a16="http://schemas.microsoft.com/office/drawing/2014/main" id="{3AE8ABFB-F611-4095-B5FB-F46D84816125}"/>
              </a:ext>
            </a:extLst>
          </p:cNvPr>
          <p:cNvSpPr>
            <a:spLocks xmlns:a="http://schemas.openxmlformats.org/drawingml/2006/main" noGrp="1"/>
          </p:cNvSpPr>
          <p:nvPr/>
        </p:nvSpPr>
        <p:spPr>
          <a:xfrm xmlns:a="http://schemas.openxmlformats.org/drawingml/2006/main">
            <a:off x="685800" y="578167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587080"/>
                </a:solidFill>
                <a:latin typeface="Arial"/>
                <a:ea typeface="Arial"/>
                <a:cs typeface="Arial"/>
              </a:defRPr>
            </a:defPPr>
            <a:lvl1pPr algn="l">
              <a:defRPr sz="1800" b="0">
                <a:solidFill>
                  <a:srgbClr val="587080"/>
                </a:solidFill>
                <a:latin typeface="Arial"/>
                <a:ea typeface="Arial"/>
                <a:cs typeface="Arial"/>
              </a:defRPr>
            </a:lvl1pPr>
            <a:lvl2pPr algn="l">
              <a:defRPr sz="1800" b="0">
                <a:solidFill>
                  <a:srgbClr val="587080"/>
                </a:solidFill>
                <a:latin typeface="Arial"/>
                <a:ea typeface="Arial"/>
                <a:cs typeface="Arial"/>
              </a:defRPr>
            </a:lvl2pPr>
            <a:lvl3pPr algn="l">
              <a:defRPr sz="1800" b="0">
                <a:solidFill>
                  <a:srgbClr val="587080"/>
                </a:solidFill>
                <a:latin typeface="Arial"/>
                <a:ea typeface="Arial"/>
                <a:cs typeface="Arial"/>
              </a:defRPr>
            </a:lvl3pPr>
            <a:lvl4pPr algn="l">
              <a:defRPr sz="1800" b="0">
                <a:solidFill>
                  <a:srgbClr val="587080"/>
                </a:solidFill>
                <a:latin typeface="Arial"/>
                <a:ea typeface="Arial"/>
                <a:cs typeface="Arial"/>
              </a:defRPr>
            </a:lvl4pPr>
            <a:lvl5pPr algn="l">
              <a:defRPr sz="1800" b="0">
                <a:solidFill>
                  <a:srgbClr val="587080"/>
                </a:solidFill>
                <a:latin typeface="Arial"/>
                <a:ea typeface="Arial"/>
                <a:cs typeface="Arial"/>
              </a:defRPr>
            </a:lvl5pPr>
            <a:lvl6pPr algn="l">
              <a:defRPr sz="1800" b="0">
                <a:solidFill>
                  <a:srgbClr val="587080"/>
                </a:solidFill>
                <a:latin typeface="Arial"/>
                <a:ea typeface="Arial"/>
                <a:cs typeface="Arial"/>
              </a:defRPr>
            </a:lvl6pPr>
            <a:lvl7pPr algn="l">
              <a:defRPr sz="1800" b="0">
                <a:solidFill>
                  <a:srgbClr val="587080"/>
                </a:solidFill>
                <a:latin typeface="Arial"/>
                <a:ea typeface="Arial"/>
                <a:cs typeface="Arial"/>
              </a:defRPr>
            </a:lvl7pPr>
            <a:lvl8pPr algn="l">
              <a:defRPr sz="1800" b="0">
                <a:solidFill>
                  <a:srgbClr val="587080"/>
                </a:solidFill>
                <a:latin typeface="Arial"/>
                <a:ea typeface="Arial"/>
                <a:cs typeface="Arial"/>
              </a:defRPr>
            </a:lvl8pPr>
            <a:lvl9pPr algn="l">
              <a:defRPr sz="1800" b="0">
                <a:solidFill>
                  <a:srgbClr val="587080"/>
                </a:solidFill>
                <a:latin typeface="Arial"/>
                <a:ea typeface="Arial"/>
                <a:cs typeface="Arial"/>
              </a:defRPr>
            </a:lvl9pPr>
          </a:lstStyle>
          <a:p xmlns:a="http://schemas.openxmlformats.org/drawingml/2006/main">
            <a:pPr algn="l">
              <a:defRPr sz="1800" b="0">
                <a:solidFill>
                  <a:srgbClr val="587080"/>
                </a:solidFill>
                <a:latin typeface="Arial"/>
                <a:ea typeface="Arial"/>
                <a:cs typeface="Arial"/>
              </a:defRPr>
            </a:pPr>
            <a:r>
              <a:rPr sz="1800" b="0">
                <a:solidFill>
                  <a:srgbClr val="587080"/>
                </a:solidFill>
                <a:latin typeface="Arial"/>
                <a:ea typeface="Arial"/>
                <a:cs typeface="Arial"/>
              </a:rPr>
              <a:t>Les fichiers bruts permettent de retrouver la source des chiffres.</a:t>
            </a:r>
          </a:p>
        </p:txBody>
      </p:sp>
      <p:sp>
        <p:nvSpPr>
          <p:cNvPr id="10" name="intervenant">
            <a:extLst xmlns:a="http://schemas.openxmlformats.org/drawingml/2006/main">
              <a:ext uri="{FF2B5EF4-FFF2-40B4-BE49-F238E27FC236}">
                <a16:creationId xmlns:a16="http://schemas.microsoft.com/office/drawing/2014/main" id="{EA27EAA7-5C67-48E6-A7B6-6E8A7A94680C}"/>
              </a:ext>
            </a:extLst>
          </p:cNvPr>
          <p:cNvSpPr>
            <a:spLocks xmlns:a="http://schemas.openxmlformats.org/drawingml/2006/main" noGrp="1"/>
          </p:cNvSpPr>
          <p:nvPr/>
        </p:nvSpPr>
        <p:spPr>
          <a:xfrm xmlns:a="http://schemas.openxmlformats.org/drawingml/2006/main">
            <a:off x="685800" y="64198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587080"/>
                </a:solidFill>
                <a:latin typeface="Arial"/>
                <a:ea typeface="Arial"/>
                <a:cs typeface="Arial"/>
              </a:defRPr>
            </a:defPPr>
            <a:lvl1pPr algn="l">
              <a:defRPr sz="1350" b="1">
                <a:solidFill>
                  <a:srgbClr val="587080"/>
                </a:solidFill>
                <a:latin typeface="Arial"/>
                <a:ea typeface="Arial"/>
                <a:cs typeface="Arial"/>
              </a:defRPr>
            </a:lvl1pPr>
            <a:lvl2pPr algn="l">
              <a:defRPr sz="1350" b="1">
                <a:solidFill>
                  <a:srgbClr val="587080"/>
                </a:solidFill>
                <a:latin typeface="Arial"/>
                <a:ea typeface="Arial"/>
                <a:cs typeface="Arial"/>
              </a:defRPr>
            </a:lvl2pPr>
            <a:lvl3pPr algn="l">
              <a:defRPr sz="1350" b="1">
                <a:solidFill>
                  <a:srgbClr val="587080"/>
                </a:solidFill>
                <a:latin typeface="Arial"/>
                <a:ea typeface="Arial"/>
                <a:cs typeface="Arial"/>
              </a:defRPr>
            </a:lvl3pPr>
            <a:lvl4pPr algn="l">
              <a:defRPr sz="1350" b="1">
                <a:solidFill>
                  <a:srgbClr val="587080"/>
                </a:solidFill>
                <a:latin typeface="Arial"/>
                <a:ea typeface="Arial"/>
                <a:cs typeface="Arial"/>
              </a:defRPr>
            </a:lvl4pPr>
            <a:lvl5pPr algn="l">
              <a:defRPr sz="1350" b="1">
                <a:solidFill>
                  <a:srgbClr val="587080"/>
                </a:solidFill>
                <a:latin typeface="Arial"/>
                <a:ea typeface="Arial"/>
                <a:cs typeface="Arial"/>
              </a:defRPr>
            </a:lvl5pPr>
            <a:lvl6pPr algn="l">
              <a:defRPr sz="1350" b="1">
                <a:solidFill>
                  <a:srgbClr val="587080"/>
                </a:solidFill>
                <a:latin typeface="Arial"/>
                <a:ea typeface="Arial"/>
                <a:cs typeface="Arial"/>
              </a:defRPr>
            </a:lvl6pPr>
            <a:lvl7pPr algn="l">
              <a:defRPr sz="1350" b="1">
                <a:solidFill>
                  <a:srgbClr val="587080"/>
                </a:solidFill>
                <a:latin typeface="Arial"/>
                <a:ea typeface="Arial"/>
                <a:cs typeface="Arial"/>
              </a:defRPr>
            </a:lvl7pPr>
            <a:lvl8pPr algn="l">
              <a:defRPr sz="1350" b="1">
                <a:solidFill>
                  <a:srgbClr val="587080"/>
                </a:solidFill>
                <a:latin typeface="Arial"/>
                <a:ea typeface="Arial"/>
                <a:cs typeface="Arial"/>
              </a:defRPr>
            </a:lvl8pPr>
            <a:lvl9pPr algn="l">
              <a:defRPr sz="1350" b="1">
                <a:solidFill>
                  <a:srgbClr val="587080"/>
                </a:solidFill>
                <a:latin typeface="Arial"/>
                <a:ea typeface="Arial"/>
                <a:cs typeface="Arial"/>
              </a:defRPr>
            </a:lvl9pPr>
          </a:lstStyle>
          <a:p xmlns:a="http://schemas.openxmlformats.org/drawingml/2006/main">
            <a:pPr algn="l">
              <a:defRPr sz="1350" b="1">
                <a:solidFill>
                  <a:srgbClr val="587080"/>
                </a:solidFill>
                <a:latin typeface="Arial"/>
                <a:ea typeface="Arial"/>
                <a:cs typeface="Arial"/>
              </a:defRPr>
            </a:pPr>
            <a:r>
              <a:rPr sz="1350" b="1">
                <a:solidFill>
                  <a:srgbClr val="587080"/>
                </a:solidFill>
                <a:latin typeface="Arial"/>
                <a:ea typeface="Arial"/>
                <a:cs typeface="Arial"/>
              </a:rPr>
              <a:t>Nassim   1:00</a:t>
            </a:r>
          </a:p>
        </p:txBody>
      </p:sp>
      <p:sp>
        <p:nvSpPr>
          <p:cNvPr id="11" name="numero">
            <a:extLst xmlns:a="http://schemas.openxmlformats.org/drawingml/2006/main">
              <a:ext uri="{FF2B5EF4-FFF2-40B4-BE49-F238E27FC236}">
                <a16:creationId xmlns:a16="http://schemas.microsoft.com/office/drawing/2014/main" id="{26C767E7-D311-4981-BC75-CCE6F116582C}"/>
              </a:ext>
            </a:extLst>
          </p:cNvPr>
          <p:cNvSpPr>
            <a:spLocks xmlns:a="http://schemas.openxmlformats.org/drawingml/2006/main" noGrp="1"/>
          </p:cNvSpPr>
          <p:nvPr/>
        </p:nvSpPr>
        <p:spPr>
          <a:xfrm xmlns:a="http://schemas.openxmlformats.org/drawingml/2006/main">
            <a:off x="10734675" y="6419850"/>
            <a:ext cx="100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87080"/>
                </a:solidFill>
                <a:latin typeface="Arial"/>
                <a:ea typeface="Arial"/>
                <a:cs typeface="Arial"/>
              </a:defRPr>
            </a:defPPr>
            <a:lvl1pPr algn="l">
              <a:defRPr sz="1350" b="0">
                <a:solidFill>
                  <a:srgbClr val="587080"/>
                </a:solidFill>
                <a:latin typeface="Arial"/>
                <a:ea typeface="Arial"/>
                <a:cs typeface="Arial"/>
              </a:defRPr>
            </a:lvl1pPr>
            <a:lvl2pPr algn="l">
              <a:defRPr sz="1350" b="0">
                <a:solidFill>
                  <a:srgbClr val="587080"/>
                </a:solidFill>
                <a:latin typeface="Arial"/>
                <a:ea typeface="Arial"/>
                <a:cs typeface="Arial"/>
              </a:defRPr>
            </a:lvl2pPr>
            <a:lvl3pPr algn="l">
              <a:defRPr sz="1350" b="0">
                <a:solidFill>
                  <a:srgbClr val="587080"/>
                </a:solidFill>
                <a:latin typeface="Arial"/>
                <a:ea typeface="Arial"/>
                <a:cs typeface="Arial"/>
              </a:defRPr>
            </a:lvl3pPr>
            <a:lvl4pPr algn="l">
              <a:defRPr sz="1350" b="0">
                <a:solidFill>
                  <a:srgbClr val="587080"/>
                </a:solidFill>
                <a:latin typeface="Arial"/>
                <a:ea typeface="Arial"/>
                <a:cs typeface="Arial"/>
              </a:defRPr>
            </a:lvl4pPr>
            <a:lvl5pPr algn="l">
              <a:defRPr sz="1350" b="0">
                <a:solidFill>
                  <a:srgbClr val="587080"/>
                </a:solidFill>
                <a:latin typeface="Arial"/>
                <a:ea typeface="Arial"/>
                <a:cs typeface="Arial"/>
              </a:defRPr>
            </a:lvl5pPr>
            <a:lvl6pPr algn="l">
              <a:defRPr sz="1350" b="0">
                <a:solidFill>
                  <a:srgbClr val="587080"/>
                </a:solidFill>
                <a:latin typeface="Arial"/>
                <a:ea typeface="Arial"/>
                <a:cs typeface="Arial"/>
              </a:defRPr>
            </a:lvl6pPr>
            <a:lvl7pPr algn="l">
              <a:defRPr sz="1350" b="0">
                <a:solidFill>
                  <a:srgbClr val="587080"/>
                </a:solidFill>
                <a:latin typeface="Arial"/>
                <a:ea typeface="Arial"/>
                <a:cs typeface="Arial"/>
              </a:defRPr>
            </a:lvl7pPr>
            <a:lvl8pPr algn="l">
              <a:defRPr sz="1350" b="0">
                <a:solidFill>
                  <a:srgbClr val="587080"/>
                </a:solidFill>
                <a:latin typeface="Arial"/>
                <a:ea typeface="Arial"/>
                <a:cs typeface="Arial"/>
              </a:defRPr>
            </a:lvl8pPr>
            <a:lvl9pPr algn="l">
              <a:defRPr sz="1350" b="0">
                <a:solidFill>
                  <a:srgbClr val="587080"/>
                </a:solidFill>
                <a:latin typeface="Arial"/>
                <a:ea typeface="Arial"/>
                <a:cs typeface="Arial"/>
              </a:defRPr>
            </a:lvl9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09 / 09</a:t>
            </a:r>
          </a:p>
        </p:txBody>
      </p:sp>
    </p:spTree>
    <p:extLst>
      <p:ext uri="{BB962C8B-B14F-4D97-AF65-F5344CB8AC3E}">
        <p14:creationId xmlns:p14="http://schemas.microsoft.com/office/powerpoint/2010/main" val="1486111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2026-10-22T08:34:51.2890000Z</dcterms:created>
  <dcterms:modified xsi:type="dcterms:W3CDTF">2026-10-22T08:34:51.2890000Z</dcterms:modified>
</coreProperties>
</file>